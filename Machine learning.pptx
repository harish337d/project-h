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9" r:id="rId4"/>
    <p:sldId id="258" r:id="rId5"/>
    <p:sldId id="260" r:id="rId6"/>
    <p:sldId id="261" r:id="rId7"/>
    <p:sldId id="263" r:id="rId8"/>
    <p:sldId id="264"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B69B83-83D6-46F4-BEAD-485DC54A8BC7}" type="datetimeFigureOut">
              <a:rPr lang="en-IN" smtClean="0"/>
              <a:t>07-11-2023</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3478037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B69B83-83D6-46F4-BEAD-485DC54A8BC7}" type="datetimeFigureOut">
              <a:rPr lang="en-IN" smtClean="0"/>
              <a:t>07-11-2023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4246221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B69B83-83D6-46F4-BEAD-485DC54A8BC7}" type="datetimeFigureOut">
              <a:rPr lang="en-IN" smtClean="0"/>
              <a:t>07-11-2023</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20184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B69B83-83D6-46F4-BEAD-485DC54A8BC7}" type="datetimeFigureOut">
              <a:rPr lang="en-IN" smtClean="0"/>
              <a:t>07-11-2023</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94715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B69B83-83D6-46F4-BEAD-485DC54A8BC7}" type="datetimeFigureOut">
              <a:rPr lang="en-IN" smtClean="0"/>
              <a:t>07-11-2023</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1370355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B69B83-83D6-46F4-BEAD-485DC54A8BC7}" type="datetimeFigureOut">
              <a:rPr lang="en-IN" smtClean="0"/>
              <a:t>07-11-2023</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2659994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B69B83-83D6-46F4-BEAD-485DC54A8BC7}" type="datetimeFigureOut">
              <a:rPr lang="en-IN" smtClean="0"/>
              <a:t>07-11-2023</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1297439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B69B83-83D6-46F4-BEAD-485DC54A8BC7}" type="datetimeFigureOut">
              <a:rPr lang="en-IN" smtClean="0"/>
              <a:t>07-11-2023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1587570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B69B83-83D6-46F4-BEAD-485DC54A8BC7}" type="datetimeFigureOut">
              <a:rPr lang="en-IN" smtClean="0"/>
              <a:t>07-11-2023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847364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B69B83-83D6-46F4-BEAD-485DC54A8BC7}" type="datetimeFigureOut">
              <a:rPr lang="en-IN" smtClean="0"/>
              <a:t>07-11-2023</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2725727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B69B83-83D6-46F4-BEAD-485DC54A8BC7}" type="datetimeFigureOut">
              <a:rPr lang="en-IN" smtClean="0"/>
              <a:t>07-11-2023</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F567851-FF30-4FD4-8E2E-91D35CEE284D}"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44851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5B69B83-83D6-46F4-BEAD-485DC54A8BC7}" type="datetimeFigureOut">
              <a:rPr lang="en-IN" smtClean="0"/>
              <a:t>07-11-2023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3869200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5B69B83-83D6-46F4-BEAD-485DC54A8BC7}" type="datetimeFigureOut">
              <a:rPr lang="en-IN" smtClean="0"/>
              <a:t>07-11-2023</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F567851-FF30-4FD4-8E2E-91D35CEE284D}"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9643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5B69B83-83D6-46F4-BEAD-485DC54A8BC7}" type="datetimeFigureOut">
              <a:rPr lang="en-IN" smtClean="0"/>
              <a:t>07-11-2023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5212865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B69B83-83D6-46F4-BEAD-485DC54A8BC7}" type="datetimeFigureOut">
              <a:rPr lang="en-IN" smtClean="0"/>
              <a:t>07-11-2023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19638935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B69B83-83D6-46F4-BEAD-485DC54A8BC7}" type="datetimeFigureOut">
              <a:rPr lang="en-IN" smtClean="0"/>
              <a:t>07-11-2023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F567851-FF30-4FD4-8E2E-91D35CEE284D}" type="slidenum">
              <a:rPr lang="en-IN" smtClean="0"/>
              <a:t>‹#›</a:t>
            </a:fld>
            <a:endParaRPr lang="en-IN"/>
          </a:p>
        </p:txBody>
      </p:sp>
    </p:spTree>
    <p:extLst>
      <p:ext uri="{BB962C8B-B14F-4D97-AF65-F5344CB8AC3E}">
        <p14:creationId xmlns:p14="http://schemas.microsoft.com/office/powerpoint/2010/main" val="2419437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5B69B83-83D6-46F4-BEAD-485DC54A8BC7}" type="datetimeFigureOut">
              <a:rPr lang="en-IN" smtClean="0"/>
              <a:t>07-11-2023</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F567851-FF30-4FD4-8E2E-91D35CEE284D}" type="slidenum">
              <a:rPr lang="en-IN" smtClean="0"/>
              <a:t>‹#›</a:t>
            </a:fld>
            <a:endParaRPr lang="en-IN"/>
          </a:p>
        </p:txBody>
      </p:sp>
    </p:spTree>
    <p:extLst>
      <p:ext uri="{BB962C8B-B14F-4D97-AF65-F5344CB8AC3E}">
        <p14:creationId xmlns:p14="http://schemas.microsoft.com/office/powerpoint/2010/main" val="20071656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coursera.org/articles/what-does-ai-stand-for" TargetMode="External"/><Relationship Id="rId2" Type="http://schemas.openxmlformats.org/officeDocument/2006/relationships/hyperlink" Target="https://www.coursera.org/articles/what-is-artificial-intelligence"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hyperlink" Target="https://en.wikipedia.org/wiki/Statistical_classification" TargetMode="External"/><Relationship Id="rId13" Type="http://schemas.openxmlformats.org/officeDocument/2006/relationships/hyperlink" Target="https://en.wikipedia.org/wiki/Gradient_boosting" TargetMode="External"/><Relationship Id="rId3" Type="http://schemas.openxmlformats.org/officeDocument/2006/relationships/hyperlink" Target="https://en.wikipedia.org/wiki/Machine_learning" TargetMode="External"/><Relationship Id="rId7" Type="http://schemas.openxmlformats.org/officeDocument/2006/relationships/hyperlink" Target="https://en.wikipedia.org/wiki/Scikit-learn#cite_note-jmlr-3" TargetMode="External"/><Relationship Id="rId12" Type="http://schemas.openxmlformats.org/officeDocument/2006/relationships/hyperlink" Target="https://en.wikipedia.org/wiki/Random_forests" TargetMode="External"/><Relationship Id="rId17" Type="http://schemas.openxmlformats.org/officeDocument/2006/relationships/hyperlink" Target="https://en.wikipedia.org/wiki/SciPy" TargetMode="External"/><Relationship Id="rId2" Type="http://schemas.openxmlformats.org/officeDocument/2006/relationships/hyperlink" Target="https://en.wikipedia.org/wiki/Free_software" TargetMode="External"/><Relationship Id="rId16" Type="http://schemas.openxmlformats.org/officeDocument/2006/relationships/hyperlink" Target="https://en.wikipedia.org/wiki/NumPy" TargetMode="External"/><Relationship Id="rId1" Type="http://schemas.openxmlformats.org/officeDocument/2006/relationships/slideLayout" Target="../slideLayouts/slideLayout1.xml"/><Relationship Id="rId6" Type="http://schemas.openxmlformats.org/officeDocument/2006/relationships/hyperlink" Target="https://en.wikipedia.org/wiki/Programming_language" TargetMode="External"/><Relationship Id="rId11" Type="http://schemas.openxmlformats.org/officeDocument/2006/relationships/hyperlink" Target="https://en.wikipedia.org/wiki/Support_vector_machine" TargetMode="External"/><Relationship Id="rId5" Type="http://schemas.openxmlformats.org/officeDocument/2006/relationships/hyperlink" Target="https://en.wikipedia.org/wiki/Python_(programming_language)" TargetMode="External"/><Relationship Id="rId15" Type="http://schemas.openxmlformats.org/officeDocument/2006/relationships/hyperlink" Target="https://en.wikipedia.org/wiki/DBSCAN" TargetMode="External"/><Relationship Id="rId10" Type="http://schemas.openxmlformats.org/officeDocument/2006/relationships/hyperlink" Target="https://en.wikipedia.org/wiki/Cluster_analysis" TargetMode="External"/><Relationship Id="rId4" Type="http://schemas.openxmlformats.org/officeDocument/2006/relationships/hyperlink" Target="https://en.wikipedia.org/wiki/Library_(computing)" TargetMode="External"/><Relationship Id="rId9" Type="http://schemas.openxmlformats.org/officeDocument/2006/relationships/hyperlink" Target="https://en.wikipedia.org/wiki/Regression_analysis" TargetMode="External"/><Relationship Id="rId14" Type="http://schemas.openxmlformats.org/officeDocument/2006/relationships/hyperlink" Target="https://en.wikipedia.org/wiki/K-means_cluster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B7803-B3CF-05DB-79F1-83BE59F58C1D}"/>
              </a:ext>
            </a:extLst>
          </p:cNvPr>
          <p:cNvSpPr>
            <a:spLocks noGrp="1"/>
          </p:cNvSpPr>
          <p:nvPr>
            <p:ph type="ctrTitle"/>
          </p:nvPr>
        </p:nvSpPr>
        <p:spPr>
          <a:xfrm>
            <a:off x="2589213" y="1081548"/>
            <a:ext cx="8915399" cy="1179871"/>
          </a:xfrm>
        </p:spPr>
        <p:txBody>
          <a:bodyPr/>
          <a:lstStyle/>
          <a:p>
            <a:pPr algn="ctr"/>
            <a:r>
              <a:rPr lang="en-IN" b="1" i="1" dirty="0"/>
              <a:t>Machine Learning</a:t>
            </a:r>
          </a:p>
        </p:txBody>
      </p:sp>
      <p:sp>
        <p:nvSpPr>
          <p:cNvPr id="3" name="Subtitle 2">
            <a:extLst>
              <a:ext uri="{FF2B5EF4-FFF2-40B4-BE49-F238E27FC236}">
                <a16:creationId xmlns:a16="http://schemas.microsoft.com/office/drawing/2014/main" id="{3FE80441-8B4F-3AD2-55B2-4DA2E07B5B62}"/>
              </a:ext>
            </a:extLst>
          </p:cNvPr>
          <p:cNvSpPr>
            <a:spLocks noGrp="1"/>
          </p:cNvSpPr>
          <p:nvPr>
            <p:ph type="subTitle" idx="1"/>
          </p:nvPr>
        </p:nvSpPr>
        <p:spPr>
          <a:xfrm>
            <a:off x="8052618" y="5850194"/>
            <a:ext cx="3873911" cy="688258"/>
          </a:xfrm>
        </p:spPr>
        <p:txBody>
          <a:bodyPr/>
          <a:lstStyle/>
          <a:p>
            <a:r>
              <a:rPr lang="en-IN" b="1" dirty="0"/>
              <a:t>By Harish Kumar</a:t>
            </a:r>
          </a:p>
        </p:txBody>
      </p:sp>
    </p:spTree>
    <p:extLst>
      <p:ext uri="{BB962C8B-B14F-4D97-AF65-F5344CB8AC3E}">
        <p14:creationId xmlns:p14="http://schemas.microsoft.com/office/powerpoint/2010/main" val="3387219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0A34D-3AF5-4C26-5541-76A1ACDD800A}"/>
              </a:ext>
            </a:extLst>
          </p:cNvPr>
          <p:cNvSpPr>
            <a:spLocks noGrp="1"/>
          </p:cNvSpPr>
          <p:nvPr>
            <p:ph type="ctrTitle"/>
          </p:nvPr>
        </p:nvSpPr>
        <p:spPr>
          <a:xfrm>
            <a:off x="688258" y="275304"/>
            <a:ext cx="11120284" cy="4798141"/>
          </a:xfrm>
        </p:spPr>
        <p:txBody>
          <a:bodyPr>
            <a:normAutofit fontScale="90000"/>
          </a:bodyPr>
          <a:lstStyle/>
          <a:p>
            <a:r>
              <a:rPr lang="en-US" sz="2400" b="0" i="0" cap="none" dirty="0">
                <a:effectLst/>
                <a:latin typeface="Calibri" panose="020F0502020204030204" pitchFamily="34" charset="0"/>
                <a:ea typeface="Calibri" panose="020F0502020204030204" pitchFamily="34" charset="0"/>
                <a:cs typeface="Calibri" panose="020F0502020204030204" pitchFamily="34" charset="0"/>
              </a:rPr>
              <a:t>Machine learning is a subfield of </a:t>
            </a:r>
            <a:r>
              <a:rPr lang="en-US" sz="2400" b="0" i="0" u="sng" cap="none" dirty="0">
                <a:effectLst/>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artificial intelligence (AI)</a:t>
            </a:r>
            <a:r>
              <a:rPr lang="en-US" sz="2400" b="0" i="0" cap="none" dirty="0">
                <a:effectLst/>
                <a:latin typeface="Calibri" panose="020F0502020204030204" pitchFamily="34" charset="0"/>
                <a:ea typeface="Calibri" panose="020F0502020204030204" pitchFamily="34" charset="0"/>
                <a:cs typeface="Calibri" panose="020F0502020204030204" pitchFamily="34" charset="0"/>
              </a:rPr>
              <a:t> that uses algorithms trained on data sets to create self-learning models that are capable of predicting outcomes and classifying information without human intervention. Machine learning is used today for a wide range of commercial purposes, including suggesting products to consumers based on their past purchases, predicting stock market fluctuations, and translating text from one language to another. </a:t>
            </a:r>
            <a:br>
              <a:rPr lang="en-US" sz="2400" b="0" i="0" cap="none" dirty="0">
                <a:effectLst/>
                <a:latin typeface="Calibri" panose="020F0502020204030204" pitchFamily="34" charset="0"/>
                <a:ea typeface="Calibri" panose="020F0502020204030204" pitchFamily="34" charset="0"/>
                <a:cs typeface="Calibri" panose="020F0502020204030204" pitchFamily="34" charset="0"/>
              </a:rPr>
            </a:br>
            <a:r>
              <a:rPr lang="en-US" sz="2400" b="0" i="0" cap="none" dirty="0">
                <a:effectLst/>
                <a:latin typeface="Calibri" panose="020F0502020204030204" pitchFamily="34" charset="0"/>
                <a:ea typeface="Calibri" panose="020F0502020204030204" pitchFamily="34" charset="0"/>
                <a:cs typeface="Calibri" panose="020F0502020204030204" pitchFamily="34" charset="0"/>
              </a:rPr>
              <a:t>In common usage, the terms “machine learning” and “artificial intelligence” are often used interchangeably with one another due to the prevalence of machine learning for AI purposes in the world today. But, the two terms are meaningfully distinct. While </a:t>
            </a:r>
            <a:r>
              <a:rPr lang="en-US" sz="2400" b="0" i="0" u="sng" cap="none" dirty="0">
                <a:effectLst/>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AI</a:t>
            </a:r>
            <a:r>
              <a:rPr lang="en-US" sz="2400" b="0" i="0" cap="none" dirty="0">
                <a:effectLst/>
                <a:latin typeface="Calibri" panose="020F0502020204030204" pitchFamily="34" charset="0"/>
                <a:ea typeface="Calibri" panose="020F0502020204030204" pitchFamily="34" charset="0"/>
                <a:cs typeface="Calibri" panose="020F0502020204030204" pitchFamily="34" charset="0"/>
              </a:rPr>
              <a:t> refers to the general attempt to create machines capable of human-like cognitive abilities, machine learning specifically refers to the use of algorithms and data sets to do so</a:t>
            </a:r>
            <a:br>
              <a:rPr lang="en-US" sz="2400" b="0" i="0" cap="none" dirty="0">
                <a:effectLst/>
                <a:latin typeface="Calibri" panose="020F0502020204030204" pitchFamily="34" charset="0"/>
                <a:ea typeface="Calibri" panose="020F0502020204030204" pitchFamily="34" charset="0"/>
                <a:cs typeface="Calibri" panose="020F0502020204030204" pitchFamily="34" charset="0"/>
              </a:rPr>
            </a:br>
            <a:endParaRPr lang="en-IN" sz="24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31089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54238E9-4ACF-F1A7-C3B0-F66D672A3A25}"/>
              </a:ext>
            </a:extLst>
          </p:cNvPr>
          <p:cNvSpPr>
            <a:spLocks noGrp="1"/>
          </p:cNvSpPr>
          <p:nvPr>
            <p:ph type="subTitle" idx="1"/>
          </p:nvPr>
        </p:nvSpPr>
        <p:spPr>
          <a:xfrm>
            <a:off x="550607" y="117987"/>
            <a:ext cx="11228438" cy="6459794"/>
          </a:xfrm>
        </p:spPr>
        <p:txBody>
          <a:bodyPr/>
          <a:lstStyle/>
          <a:p>
            <a:pPr rtl="0">
              <a:spcBef>
                <a:spcPts val="0"/>
              </a:spcBef>
              <a:spcAft>
                <a:spcPts val="0"/>
              </a:spcAft>
            </a:pPr>
            <a:r>
              <a:rPr lang="en-US" sz="1800" b="0" i="0" u="none" strike="noStrike" dirty="0">
                <a:solidFill>
                  <a:srgbClr val="000000"/>
                </a:solidFill>
                <a:effectLst/>
                <a:latin typeface="Calibri" panose="020F0502020204030204" pitchFamily="34" charset="0"/>
              </a:rPr>
              <a:t> Field of study that gives computers the ability to learn without being explicitly programmed.” – </a:t>
            </a:r>
            <a:r>
              <a:rPr lang="en-US" sz="1800" b="0" i="0" u="none" strike="noStrike" dirty="0">
                <a:solidFill>
                  <a:srgbClr val="FF0000"/>
                </a:solidFill>
                <a:effectLst/>
                <a:latin typeface="Calibri" panose="020F0502020204030204" pitchFamily="34" charset="0"/>
              </a:rPr>
              <a:t>Arthur Samuel</a:t>
            </a:r>
            <a:endParaRPr lang="en-US" b="0" dirty="0">
              <a:effectLst/>
            </a:endParaRPr>
          </a:p>
          <a:p>
            <a:pPr rtl="0">
              <a:spcBef>
                <a:spcPts val="0"/>
              </a:spcBef>
              <a:spcAft>
                <a:spcPts val="0"/>
              </a:spcAft>
            </a:pPr>
            <a:br>
              <a:rPr lang="en-US" b="0" dirty="0">
                <a:effectLst/>
              </a:rPr>
            </a:br>
            <a:r>
              <a:rPr lang="en-US" sz="1800" b="0" i="0" u="none" strike="noStrike" dirty="0">
                <a:solidFill>
                  <a:srgbClr val="FF0000"/>
                </a:solidFill>
                <a:effectLst/>
                <a:latin typeface="Calibri" panose="020F0502020204030204" pitchFamily="34" charset="0"/>
              </a:rPr>
              <a:t>                                          </a:t>
            </a:r>
            <a:r>
              <a:rPr lang="en-US" sz="1800" b="0" i="0" u="none" strike="noStrike" dirty="0">
                <a:solidFill>
                  <a:srgbClr val="000000"/>
                </a:solidFill>
                <a:effectLst/>
                <a:latin typeface="Calibri" panose="020F0502020204030204" pitchFamily="34" charset="0"/>
              </a:rPr>
              <a:t>“A computer program is said to learn from experience </a:t>
            </a:r>
            <a:r>
              <a:rPr lang="en-US" sz="1800" b="0" i="0" u="none" strike="noStrike" dirty="0">
                <a:solidFill>
                  <a:srgbClr val="0000FF"/>
                </a:solidFill>
                <a:effectLst/>
                <a:latin typeface="Calibri" panose="020F0502020204030204" pitchFamily="34" charset="0"/>
              </a:rPr>
              <a:t>E</a:t>
            </a:r>
            <a:r>
              <a:rPr lang="en-US" sz="1800" b="0" i="0" u="none" strike="noStrike" dirty="0">
                <a:solidFill>
                  <a:srgbClr val="000000"/>
                </a:solidFill>
                <a:effectLst/>
                <a:latin typeface="Calibri" panose="020F0502020204030204" pitchFamily="34" charset="0"/>
              </a:rPr>
              <a:t> with respect to some task </a:t>
            </a:r>
            <a:r>
              <a:rPr lang="en-US" sz="1800" b="0" i="0" u="none" strike="noStrike" dirty="0">
                <a:solidFill>
                  <a:srgbClr val="0000FF"/>
                </a:solidFill>
                <a:effectLst/>
                <a:latin typeface="Calibri" panose="020F0502020204030204" pitchFamily="34" charset="0"/>
              </a:rPr>
              <a:t>T</a:t>
            </a:r>
            <a:r>
              <a:rPr lang="en-US" sz="1800" b="0" i="0" u="none" strike="noStrike" dirty="0">
                <a:solidFill>
                  <a:srgbClr val="000000"/>
                </a:solidFill>
                <a:effectLst/>
                <a:latin typeface="Calibri" panose="020F0502020204030204" pitchFamily="34" charset="0"/>
              </a:rPr>
              <a:t> and some performance measure </a:t>
            </a:r>
            <a:r>
              <a:rPr lang="en-US" sz="1800" b="0" i="0" u="none" strike="noStrike" dirty="0">
                <a:solidFill>
                  <a:srgbClr val="0000FF"/>
                </a:solidFill>
                <a:effectLst/>
                <a:latin typeface="Calibri" panose="020F0502020204030204" pitchFamily="34" charset="0"/>
              </a:rPr>
              <a:t>P</a:t>
            </a:r>
            <a:r>
              <a:rPr lang="en-US" sz="1800" b="0" i="0" u="none" strike="noStrike" dirty="0">
                <a:solidFill>
                  <a:srgbClr val="000000"/>
                </a:solidFill>
                <a:effectLst/>
                <a:latin typeface="Calibri" panose="020F0502020204030204" pitchFamily="34" charset="0"/>
              </a:rPr>
              <a:t>, if its performance on T, as measured by P, improves with experience E.” – </a:t>
            </a:r>
            <a:r>
              <a:rPr lang="en-US" sz="1800" b="0" i="0" u="none" strike="noStrike" dirty="0">
                <a:solidFill>
                  <a:srgbClr val="FF0000"/>
                </a:solidFill>
                <a:effectLst/>
                <a:latin typeface="Calibri" panose="020F0502020204030204" pitchFamily="34" charset="0"/>
              </a:rPr>
              <a:t>Tom Mitchell</a:t>
            </a:r>
            <a:endParaRPr lang="en-US" b="0" dirty="0">
              <a:effectLst/>
            </a:endParaRPr>
          </a:p>
          <a:p>
            <a:pPr rtl="0">
              <a:spcBef>
                <a:spcPts val="0"/>
              </a:spcBef>
              <a:spcAft>
                <a:spcPts val="0"/>
              </a:spcAft>
            </a:pPr>
            <a:br>
              <a:rPr lang="en-US" b="0" dirty="0">
                <a:effectLst/>
              </a:rPr>
            </a:br>
            <a:r>
              <a:rPr lang="en-US" sz="1800" b="0" i="0" u="none" strike="noStrike" dirty="0">
                <a:solidFill>
                  <a:srgbClr val="000000"/>
                </a:solidFill>
                <a:effectLst/>
                <a:latin typeface="Calibri" panose="020F0502020204030204" pitchFamily="34" charset="0"/>
              </a:rPr>
              <a:t>Task (T) – Classifying emails as spam or not spam.</a:t>
            </a:r>
            <a:endParaRPr lang="en-US" b="0" dirty="0">
              <a:effectLst/>
            </a:endParaRPr>
          </a:p>
          <a:p>
            <a:pPr rtl="0">
              <a:spcBef>
                <a:spcPts val="0"/>
              </a:spcBef>
              <a:spcAft>
                <a:spcPts val="0"/>
              </a:spcAft>
            </a:pPr>
            <a:r>
              <a:rPr lang="en-US" sz="1800" b="0" i="0" u="none" strike="noStrike" dirty="0">
                <a:solidFill>
                  <a:srgbClr val="000000"/>
                </a:solidFill>
                <a:effectLst/>
                <a:latin typeface="Calibri" panose="020F0502020204030204" pitchFamily="34" charset="0"/>
              </a:rPr>
              <a:t>Experience(E) – Watching you label emails as spam or not spam.</a:t>
            </a:r>
            <a:endParaRPr lang="en-US" b="0" dirty="0">
              <a:effectLst/>
            </a:endParaRPr>
          </a:p>
          <a:p>
            <a:pPr rtl="0">
              <a:spcBef>
                <a:spcPts val="0"/>
              </a:spcBef>
              <a:spcAft>
                <a:spcPts val="0"/>
              </a:spcAft>
            </a:pPr>
            <a:r>
              <a:rPr lang="en-US" sz="1800" b="0" i="0" u="none" strike="noStrike" dirty="0">
                <a:solidFill>
                  <a:srgbClr val="000000"/>
                </a:solidFill>
                <a:effectLst/>
                <a:latin typeface="Calibri" panose="020F0502020204030204" pitchFamily="34" charset="0"/>
              </a:rPr>
              <a:t>Performance(P) – The number of emails correctly classified as spam / not spam.</a:t>
            </a:r>
          </a:p>
          <a:p>
            <a:pPr rtl="0">
              <a:spcBef>
                <a:spcPts val="0"/>
              </a:spcBef>
              <a:spcAft>
                <a:spcPts val="0"/>
              </a:spcAft>
            </a:pPr>
            <a:endParaRPr lang="en-US" dirty="0">
              <a:solidFill>
                <a:srgbClr val="000000"/>
              </a:solidFill>
              <a:latin typeface="Calibri" panose="020F0502020204030204" pitchFamily="34" charset="0"/>
            </a:endParaRPr>
          </a:p>
          <a:p>
            <a:pPr rtl="0">
              <a:spcBef>
                <a:spcPts val="0"/>
              </a:spcBef>
              <a:spcAft>
                <a:spcPts val="0"/>
              </a:spcAft>
            </a:pPr>
            <a:r>
              <a:rPr lang="en-US" sz="1800" b="0" i="0" u="none" strike="noStrike" dirty="0">
                <a:solidFill>
                  <a:srgbClr val="000000"/>
                </a:solidFill>
                <a:effectLst/>
                <a:latin typeface="Calibri" panose="020F0502020204030204" pitchFamily="34" charset="0"/>
              </a:rPr>
              <a:t>“It is an application of AI that provides the ability to automatically learn and improve from experience from without being explicitly programmed.”</a:t>
            </a:r>
          </a:p>
          <a:p>
            <a:pPr rtl="0">
              <a:spcBef>
                <a:spcPts val="0"/>
              </a:spcBef>
              <a:spcAft>
                <a:spcPts val="0"/>
              </a:spcAft>
            </a:pPr>
            <a:endParaRPr lang="en-US" dirty="0">
              <a:solidFill>
                <a:srgbClr val="000000"/>
              </a:solidFill>
              <a:latin typeface="Calibri" panose="020F0502020204030204" pitchFamily="34" charset="0"/>
            </a:endParaRPr>
          </a:p>
          <a:p>
            <a:pPr rtl="0">
              <a:spcBef>
                <a:spcPts val="0"/>
              </a:spcBef>
              <a:spcAft>
                <a:spcPts val="0"/>
              </a:spcAft>
            </a:pPr>
            <a:endParaRPr lang="en-US" b="0" dirty="0">
              <a:effectLst/>
            </a:endParaRPr>
          </a:p>
          <a:p>
            <a:br>
              <a:rPr lang="en-US" dirty="0"/>
            </a:br>
            <a:endParaRPr lang="en-US" b="0" dirty="0">
              <a:effectLst/>
            </a:endParaRPr>
          </a:p>
          <a:p>
            <a:br>
              <a:rPr lang="en-US" dirty="0"/>
            </a:br>
            <a:endParaRPr lang="en-IN" dirty="0"/>
          </a:p>
        </p:txBody>
      </p:sp>
      <p:pic>
        <p:nvPicPr>
          <p:cNvPr id="7" name="Picture 6">
            <a:extLst>
              <a:ext uri="{FF2B5EF4-FFF2-40B4-BE49-F238E27FC236}">
                <a16:creationId xmlns:a16="http://schemas.microsoft.com/office/drawing/2014/main" id="{5BAEC1CF-78D7-22FF-F0AE-5E335292BD12}"/>
              </a:ext>
            </a:extLst>
          </p:cNvPr>
          <p:cNvPicPr>
            <a:picLocks noChangeAspect="1"/>
          </p:cNvPicPr>
          <p:nvPr/>
        </p:nvPicPr>
        <p:blipFill>
          <a:blip r:embed="rId2"/>
          <a:stretch>
            <a:fillRect/>
          </a:stretch>
        </p:blipFill>
        <p:spPr>
          <a:xfrm>
            <a:off x="2015613" y="3741174"/>
            <a:ext cx="8600452" cy="1929162"/>
          </a:xfrm>
          <a:prstGeom prst="rect">
            <a:avLst/>
          </a:prstGeom>
        </p:spPr>
      </p:pic>
    </p:spTree>
    <p:extLst>
      <p:ext uri="{BB962C8B-B14F-4D97-AF65-F5344CB8AC3E}">
        <p14:creationId xmlns:p14="http://schemas.microsoft.com/office/powerpoint/2010/main" val="3164935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EC33566-F403-E442-997B-7CB083C1E73C}"/>
              </a:ext>
            </a:extLst>
          </p:cNvPr>
          <p:cNvSpPr>
            <a:spLocks noGrp="1"/>
          </p:cNvSpPr>
          <p:nvPr>
            <p:ph type="subTitle" idx="1"/>
          </p:nvPr>
        </p:nvSpPr>
        <p:spPr>
          <a:xfrm>
            <a:off x="766763" y="255588"/>
            <a:ext cx="10737850" cy="6479509"/>
          </a:xfrm>
        </p:spPr>
        <p:txBody>
          <a:bodyPr/>
          <a:lstStyle/>
          <a:p>
            <a:pPr algn="l"/>
            <a:r>
              <a:rPr lang="en-US" b="1" i="0" dirty="0">
                <a:solidFill>
                  <a:srgbClr val="1F1F1F"/>
                </a:solidFill>
                <a:effectLst/>
                <a:latin typeface="Source Sans Pro" panose="020B0503030403020204" pitchFamily="34" charset="0"/>
              </a:rPr>
              <a:t>Examples and use cases</a:t>
            </a:r>
          </a:p>
          <a:p>
            <a:pPr marL="285750" indent="-285750" algn="l">
              <a:buFont typeface="Wingdings" panose="05000000000000000000" pitchFamily="2" charset="2"/>
              <a:buChar char="Ø"/>
            </a:pPr>
            <a:r>
              <a:rPr lang="en-US" b="0" i="0" dirty="0">
                <a:solidFill>
                  <a:srgbClr val="1F1F1F"/>
                </a:solidFill>
                <a:effectLst/>
                <a:latin typeface="Source Sans Pro" panose="020B0503030403020204" pitchFamily="34" charset="0"/>
              </a:rPr>
              <a:t>Machine learning is typically the most mainstream type of AI technology in use around the world today. Some of the most common examples of machine learning that you may have interacted with in your day-to-day life include:</a:t>
            </a:r>
          </a:p>
          <a:p>
            <a:pPr marL="285750" indent="-285750" algn="l">
              <a:buFont typeface="Wingdings" panose="05000000000000000000" pitchFamily="2" charset="2"/>
              <a:buChar char="Ø"/>
            </a:pPr>
            <a:r>
              <a:rPr lang="en-US" b="0" i="0" dirty="0">
                <a:solidFill>
                  <a:srgbClr val="1F1F1F"/>
                </a:solidFill>
                <a:effectLst/>
                <a:latin typeface="var(--cds-font-family-source-sans-pro)"/>
              </a:rPr>
              <a:t>Recommendation engines that suggest products, songs, or television shows to you, such as those found on Amazon, Spotify, or Netflix. </a:t>
            </a:r>
          </a:p>
          <a:p>
            <a:pPr marL="285750" indent="-285750" algn="l">
              <a:buFont typeface="Wingdings" panose="05000000000000000000" pitchFamily="2" charset="2"/>
              <a:buChar char="Ø"/>
            </a:pPr>
            <a:r>
              <a:rPr lang="en-US" b="0" i="0" dirty="0">
                <a:solidFill>
                  <a:srgbClr val="1F1F1F"/>
                </a:solidFill>
                <a:effectLst/>
                <a:latin typeface="var(--cds-font-family-source-sans-pro)"/>
              </a:rPr>
              <a:t>Speech recognition software that allows you to convert voice memos into text.</a:t>
            </a:r>
          </a:p>
          <a:p>
            <a:pPr marL="285750" indent="-285750" algn="l">
              <a:buFont typeface="Wingdings" panose="05000000000000000000" pitchFamily="2" charset="2"/>
              <a:buChar char="Ø"/>
            </a:pPr>
            <a:r>
              <a:rPr lang="en-US" b="0" i="0" dirty="0">
                <a:solidFill>
                  <a:srgbClr val="1F1F1F"/>
                </a:solidFill>
                <a:effectLst/>
                <a:latin typeface="var(--cds-font-family-source-sans-pro)"/>
              </a:rPr>
              <a:t>A bank’s fraud detection services automatically flag suspicious transactions. </a:t>
            </a:r>
          </a:p>
          <a:p>
            <a:pPr marL="285750" indent="-285750" algn="l">
              <a:buFont typeface="Wingdings" panose="05000000000000000000" pitchFamily="2" charset="2"/>
              <a:buChar char="Ø"/>
            </a:pPr>
            <a:r>
              <a:rPr lang="en-US" b="0" i="0" dirty="0">
                <a:solidFill>
                  <a:srgbClr val="1F1F1F"/>
                </a:solidFill>
                <a:effectLst/>
                <a:latin typeface="var(--cds-font-family-source-sans-pro)"/>
              </a:rPr>
              <a:t>Self-driving cars and driver assistance features, such as blind-spot detection and automatic stopping, improve overall vehicle safety. </a:t>
            </a:r>
          </a:p>
          <a:p>
            <a:pPr algn="l"/>
            <a:r>
              <a:rPr lang="en-US" b="1" dirty="0">
                <a:solidFill>
                  <a:srgbClr val="1F1F1F"/>
                </a:solidFill>
                <a:latin typeface="var(--cds-font-family-source-sans-pro)"/>
              </a:rPr>
              <a:t>Types of Machine Learning</a:t>
            </a:r>
          </a:p>
          <a:p>
            <a:pPr marL="285750" indent="-285750" algn="l">
              <a:buFont typeface="Wingdings" panose="05000000000000000000" pitchFamily="2" charset="2"/>
              <a:buChar char="Ø"/>
            </a:pPr>
            <a:r>
              <a:rPr lang="en-US" i="0" dirty="0">
                <a:solidFill>
                  <a:srgbClr val="1F1F1F"/>
                </a:solidFill>
                <a:effectLst/>
                <a:latin typeface="var(--cds-font-family-source-sans-pro)"/>
              </a:rPr>
              <a:t>Supervised Machine Learning</a:t>
            </a:r>
          </a:p>
          <a:p>
            <a:pPr marL="285750" indent="-285750" algn="l">
              <a:buFont typeface="Wingdings" panose="05000000000000000000" pitchFamily="2" charset="2"/>
              <a:buChar char="Ø"/>
            </a:pPr>
            <a:r>
              <a:rPr lang="en-US" dirty="0">
                <a:solidFill>
                  <a:srgbClr val="1F1F1F"/>
                </a:solidFill>
                <a:latin typeface="var(--cds-font-family-source-sans-pro)"/>
              </a:rPr>
              <a:t>Unsupervised Machine Learning</a:t>
            </a:r>
          </a:p>
          <a:p>
            <a:pPr marL="285750" indent="-285750" algn="l">
              <a:buFont typeface="Wingdings" panose="05000000000000000000" pitchFamily="2" charset="2"/>
              <a:buChar char="Ø"/>
            </a:pPr>
            <a:r>
              <a:rPr lang="en-US" i="0" dirty="0">
                <a:solidFill>
                  <a:srgbClr val="1F1F1F"/>
                </a:solidFill>
                <a:effectLst/>
                <a:latin typeface="var(--cds-font-family-source-sans-pro)"/>
              </a:rPr>
              <a:t>Semi-supervised Machine Learning</a:t>
            </a:r>
          </a:p>
          <a:p>
            <a:pPr marL="285750" indent="-285750" algn="l">
              <a:buFont typeface="Wingdings" panose="05000000000000000000" pitchFamily="2" charset="2"/>
              <a:buChar char="Ø"/>
            </a:pPr>
            <a:r>
              <a:rPr lang="en-US" dirty="0">
                <a:solidFill>
                  <a:srgbClr val="1F1F1F"/>
                </a:solidFill>
                <a:latin typeface="var(--cds-font-family-source-sans-pro)"/>
              </a:rPr>
              <a:t>Reinforcement Learning</a:t>
            </a:r>
            <a:endParaRPr lang="en-US" i="0" dirty="0">
              <a:solidFill>
                <a:srgbClr val="1F1F1F"/>
              </a:solidFill>
              <a:effectLst/>
              <a:latin typeface="var(--cds-font-family-source-sans-pro)"/>
            </a:endParaRPr>
          </a:p>
          <a:p>
            <a:endParaRPr lang="en-IN" dirty="0"/>
          </a:p>
        </p:txBody>
      </p:sp>
    </p:spTree>
    <p:extLst>
      <p:ext uri="{BB962C8B-B14F-4D97-AF65-F5344CB8AC3E}">
        <p14:creationId xmlns:p14="http://schemas.microsoft.com/office/powerpoint/2010/main" val="3783147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B852201-F6D4-EDCB-543B-ECD705F6009B}"/>
              </a:ext>
            </a:extLst>
          </p:cNvPr>
          <p:cNvSpPr>
            <a:spLocks noGrp="1"/>
          </p:cNvSpPr>
          <p:nvPr>
            <p:ph type="subTitle" idx="1"/>
          </p:nvPr>
        </p:nvSpPr>
        <p:spPr>
          <a:xfrm>
            <a:off x="874713" y="255588"/>
            <a:ext cx="10629900" cy="5648325"/>
          </a:xfrm>
        </p:spPr>
        <p:txBody>
          <a:bodyPr>
            <a:normAutofit lnSpcReduction="10000"/>
          </a:bodyPr>
          <a:lstStyle/>
          <a:p>
            <a:pPr rtl="0" fontAlgn="base">
              <a:spcBef>
                <a:spcPts val="0"/>
              </a:spcBef>
              <a:spcAft>
                <a:spcPts val="0"/>
              </a:spcAft>
            </a:pPr>
            <a:r>
              <a:rPr lang="en-US" sz="1800" b="1" i="1" strike="noStrike" dirty="0">
                <a:solidFill>
                  <a:schemeClr val="tx1"/>
                </a:solidFill>
                <a:effectLst/>
                <a:latin typeface="var(--cds-font-family-source-sans-pro)"/>
              </a:rPr>
              <a:t>Supervised learning</a:t>
            </a:r>
          </a:p>
          <a:p>
            <a:pPr rtl="0">
              <a:spcBef>
                <a:spcPts val="0"/>
              </a:spcBef>
              <a:spcAft>
                <a:spcPts val="0"/>
              </a:spcAft>
            </a:pPr>
            <a:r>
              <a:rPr lang="en-US" sz="1800" b="0" i="0" strike="noStrike" dirty="0">
                <a:solidFill>
                  <a:schemeClr val="tx1"/>
                </a:solidFill>
                <a:effectLst/>
                <a:latin typeface="var(--cds-font-family-source-sans-pro)"/>
              </a:rPr>
              <a:t>                          With the help of labelled data, we do prediction. </a:t>
            </a:r>
            <a:r>
              <a:rPr lang="en-US" sz="1800" b="0" i="0" strike="noStrike" dirty="0" err="1">
                <a:solidFill>
                  <a:schemeClr val="tx1"/>
                </a:solidFill>
                <a:effectLst/>
                <a:latin typeface="var(--cds-font-family-source-sans-pro)"/>
              </a:rPr>
              <a:t>Eg.</a:t>
            </a:r>
            <a:r>
              <a:rPr lang="en-US" sz="1800" b="0" i="0" strike="noStrike" dirty="0">
                <a:solidFill>
                  <a:schemeClr val="tx1"/>
                </a:solidFill>
                <a:effectLst/>
                <a:latin typeface="var(--cds-font-family-source-sans-pro)"/>
              </a:rPr>
              <a:t> Regression, classification.</a:t>
            </a:r>
            <a:endParaRPr lang="en-US" b="0" dirty="0">
              <a:solidFill>
                <a:schemeClr val="tx1"/>
              </a:solidFill>
              <a:effectLst/>
              <a:latin typeface="var(--cds-font-family-source-sans-pro)"/>
            </a:endParaRPr>
          </a:p>
          <a:p>
            <a:pPr rtl="0" fontAlgn="base">
              <a:spcBef>
                <a:spcPts val="0"/>
              </a:spcBef>
              <a:spcAft>
                <a:spcPts val="0"/>
              </a:spcAft>
            </a:pPr>
            <a:br>
              <a:rPr lang="en-US" b="0" dirty="0">
                <a:solidFill>
                  <a:schemeClr val="tx1"/>
                </a:solidFill>
                <a:effectLst/>
                <a:latin typeface="var(--cds-font-family-source-sans-pro)"/>
              </a:rPr>
            </a:br>
            <a:r>
              <a:rPr lang="en-US" sz="1800" b="1" i="1" strike="noStrike" dirty="0">
                <a:solidFill>
                  <a:schemeClr val="tx1"/>
                </a:solidFill>
                <a:effectLst/>
                <a:latin typeface="var(--cds-font-family-source-sans-pro)"/>
              </a:rPr>
              <a:t>Unsupervised learning</a:t>
            </a:r>
          </a:p>
          <a:p>
            <a:pPr rtl="0">
              <a:spcBef>
                <a:spcPts val="0"/>
              </a:spcBef>
              <a:spcAft>
                <a:spcPts val="0"/>
              </a:spcAft>
            </a:pPr>
            <a:r>
              <a:rPr lang="en-US" sz="1800" b="0" i="0" strike="noStrike" dirty="0">
                <a:solidFill>
                  <a:schemeClr val="tx1"/>
                </a:solidFill>
                <a:effectLst/>
                <a:latin typeface="var(--cds-font-family-source-sans-pro)"/>
              </a:rPr>
              <a:t>                           We give </a:t>
            </a:r>
            <a:r>
              <a:rPr lang="en-US" sz="1800" b="0" i="0" strike="noStrike" dirty="0" err="1">
                <a:solidFill>
                  <a:schemeClr val="tx1"/>
                </a:solidFill>
                <a:effectLst/>
                <a:latin typeface="var(--cds-font-family-source-sans-pro)"/>
              </a:rPr>
              <a:t>unlabelled</a:t>
            </a:r>
            <a:r>
              <a:rPr lang="en-US" sz="1800" b="0" i="0" strike="noStrike" dirty="0">
                <a:solidFill>
                  <a:schemeClr val="tx1"/>
                </a:solidFill>
                <a:effectLst/>
                <a:latin typeface="var(--cds-font-family-source-sans-pro)"/>
              </a:rPr>
              <a:t> data to the model and the model tries to group the data based on the similarities. </a:t>
            </a:r>
            <a:r>
              <a:rPr lang="en-US" sz="1800" b="0" i="0" strike="noStrike" dirty="0" err="1">
                <a:solidFill>
                  <a:schemeClr val="tx1"/>
                </a:solidFill>
                <a:effectLst/>
                <a:latin typeface="var(--cds-font-family-source-sans-pro)"/>
              </a:rPr>
              <a:t>Eg.</a:t>
            </a:r>
            <a:r>
              <a:rPr lang="en-US" sz="1800" b="0" i="0" strike="noStrike" dirty="0">
                <a:solidFill>
                  <a:schemeClr val="tx1"/>
                </a:solidFill>
                <a:effectLst/>
                <a:latin typeface="var(--cds-font-family-source-sans-pro)"/>
              </a:rPr>
              <a:t> Clustering, PCA.</a:t>
            </a:r>
          </a:p>
          <a:p>
            <a:pPr rtl="0">
              <a:spcBef>
                <a:spcPts val="0"/>
              </a:spcBef>
              <a:spcAft>
                <a:spcPts val="0"/>
              </a:spcAft>
            </a:pPr>
            <a:endParaRPr lang="en-US" dirty="0">
              <a:solidFill>
                <a:schemeClr val="tx1"/>
              </a:solidFill>
              <a:latin typeface="var(--cds-font-family-source-sans-pro)"/>
            </a:endParaRPr>
          </a:p>
          <a:p>
            <a:pPr>
              <a:spcBef>
                <a:spcPts val="0"/>
              </a:spcBef>
            </a:pPr>
            <a:r>
              <a:rPr lang="en-US" b="1" i="1" dirty="0">
                <a:solidFill>
                  <a:schemeClr val="tx1"/>
                </a:solidFill>
                <a:effectLst/>
                <a:latin typeface="var(--cds-font-family-source-sans-pro)"/>
              </a:rPr>
              <a:t>Semi-</a:t>
            </a:r>
            <a:r>
              <a:rPr lang="en-US" sz="1800" b="1" i="1" strike="noStrike" dirty="0">
                <a:solidFill>
                  <a:schemeClr val="tx1"/>
                </a:solidFill>
                <a:effectLst/>
                <a:latin typeface="var(--cds-font-family-source-sans-pro)"/>
              </a:rPr>
              <a:t>supervised learning</a:t>
            </a:r>
          </a:p>
          <a:p>
            <a:pPr>
              <a:spcBef>
                <a:spcPts val="0"/>
              </a:spcBef>
            </a:pPr>
            <a:r>
              <a:rPr lang="en-US" b="1" i="1" dirty="0">
                <a:solidFill>
                  <a:schemeClr val="tx1"/>
                </a:solidFill>
                <a:latin typeface="var(--cds-font-family-source-sans-pro)"/>
              </a:rPr>
              <a:t>			</a:t>
            </a:r>
            <a:r>
              <a:rPr lang="en-US" dirty="0">
                <a:solidFill>
                  <a:srgbClr val="273239"/>
                </a:solidFill>
                <a:latin typeface="var(--cds-font-family-source-sans-pro)"/>
              </a:rPr>
              <a:t>T</a:t>
            </a:r>
            <a:r>
              <a:rPr lang="en-US" b="0" i="0" dirty="0">
                <a:solidFill>
                  <a:srgbClr val="273239"/>
                </a:solidFill>
                <a:effectLst/>
                <a:latin typeface="var(--cds-font-family-source-sans-pro)"/>
              </a:rPr>
              <a:t>hat falls in between supervised and unsupervised learning. It is a method that uses a small amount of labeled data and a large amount of unlabeled data to train a model. The goal of semi-supervised learning is to learn a function that can accurately predict the output variable based on the input variables, similar to supervised learning. However, unlike supervised learning, the algorithm is trained on a dataset that contains both labeled and unlabeled data.</a:t>
            </a:r>
            <a:endParaRPr lang="en-US" sz="1800" b="1" i="1" strike="noStrike" dirty="0">
              <a:solidFill>
                <a:schemeClr val="tx1"/>
              </a:solidFill>
              <a:effectLst/>
              <a:latin typeface="var(--cds-font-family-source-sans-pro)"/>
            </a:endParaRPr>
          </a:p>
          <a:p>
            <a:pPr rtl="0">
              <a:spcBef>
                <a:spcPts val="0"/>
              </a:spcBef>
              <a:spcAft>
                <a:spcPts val="0"/>
              </a:spcAft>
            </a:pPr>
            <a:endParaRPr lang="en-US" b="0" dirty="0">
              <a:solidFill>
                <a:schemeClr val="tx1"/>
              </a:solidFill>
              <a:effectLst/>
              <a:latin typeface="var(--cds-font-family-source-sans-pro)"/>
            </a:endParaRPr>
          </a:p>
          <a:p>
            <a:pPr rtl="0" fontAlgn="base">
              <a:spcBef>
                <a:spcPts val="0"/>
              </a:spcBef>
              <a:spcAft>
                <a:spcPts val="0"/>
              </a:spcAft>
            </a:pPr>
            <a:br>
              <a:rPr lang="en-US" b="1" i="1" dirty="0">
                <a:solidFill>
                  <a:schemeClr val="tx1"/>
                </a:solidFill>
                <a:effectLst/>
                <a:latin typeface="var(--cds-font-family-source-sans-pro)"/>
              </a:rPr>
            </a:br>
            <a:r>
              <a:rPr lang="en-US" sz="1800" b="1" i="1" strike="noStrike" dirty="0">
                <a:solidFill>
                  <a:schemeClr val="tx1"/>
                </a:solidFill>
                <a:effectLst/>
                <a:latin typeface="var(--cds-font-family-source-sans-pro)"/>
              </a:rPr>
              <a:t>Reinforcement learning</a:t>
            </a:r>
          </a:p>
          <a:p>
            <a:pPr rtl="0">
              <a:spcBef>
                <a:spcPts val="0"/>
              </a:spcBef>
              <a:spcAft>
                <a:spcPts val="0"/>
              </a:spcAft>
            </a:pPr>
            <a:r>
              <a:rPr lang="en-US" sz="1800" b="0" i="0" strike="noStrike" dirty="0">
                <a:solidFill>
                  <a:schemeClr val="tx1"/>
                </a:solidFill>
                <a:effectLst/>
                <a:latin typeface="var(--cds-font-family-source-sans-pro)"/>
              </a:rPr>
              <a:t>                              Reward based learning. It works on the principle of feedback. </a:t>
            </a:r>
            <a:r>
              <a:rPr lang="en-US" sz="1800" b="0" i="0" strike="noStrike" dirty="0" err="1">
                <a:solidFill>
                  <a:schemeClr val="tx1"/>
                </a:solidFill>
                <a:effectLst/>
                <a:latin typeface="var(--cds-font-family-source-sans-pro)"/>
              </a:rPr>
              <a:t>Eg.</a:t>
            </a:r>
            <a:r>
              <a:rPr lang="en-US" sz="1800" b="0" i="0" strike="noStrike" dirty="0">
                <a:solidFill>
                  <a:schemeClr val="tx1"/>
                </a:solidFill>
                <a:effectLst/>
                <a:latin typeface="var(--cds-font-family-source-sans-pro)"/>
              </a:rPr>
              <a:t> If it predicts dog as cat, we give negative feedback. So it learns and tries to predict again. Until it predicts correctly, it will be penalized and it keeps learning. So we ask model to predict until it learns.</a:t>
            </a:r>
            <a:endParaRPr lang="en-US" b="0" dirty="0">
              <a:solidFill>
                <a:schemeClr val="tx1"/>
              </a:solidFill>
              <a:effectLst/>
              <a:latin typeface="var(--cds-font-family-source-sans-pro)"/>
            </a:endParaRPr>
          </a:p>
          <a:p>
            <a:br>
              <a:rPr lang="en-US" dirty="0">
                <a:solidFill>
                  <a:schemeClr val="tx1"/>
                </a:solidFill>
                <a:latin typeface="var(--cds-font-family-source-sans-pro)"/>
              </a:rPr>
            </a:br>
            <a:endParaRPr lang="en-IN" dirty="0">
              <a:solidFill>
                <a:schemeClr val="tx1"/>
              </a:solidFill>
              <a:latin typeface="var(--cds-font-family-source-sans-pro)"/>
            </a:endParaRPr>
          </a:p>
        </p:txBody>
      </p:sp>
    </p:spTree>
    <p:extLst>
      <p:ext uri="{BB962C8B-B14F-4D97-AF65-F5344CB8AC3E}">
        <p14:creationId xmlns:p14="http://schemas.microsoft.com/office/powerpoint/2010/main" val="2786952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06C1F-F362-0D66-86C9-BD55C611A896}"/>
              </a:ext>
            </a:extLst>
          </p:cNvPr>
          <p:cNvSpPr>
            <a:spLocks noGrp="1"/>
          </p:cNvSpPr>
          <p:nvPr>
            <p:ph type="ctrTitle"/>
          </p:nvPr>
        </p:nvSpPr>
        <p:spPr>
          <a:xfrm>
            <a:off x="2589213" y="186815"/>
            <a:ext cx="8915399" cy="432618"/>
          </a:xfrm>
        </p:spPr>
        <p:txBody>
          <a:bodyPr>
            <a:normAutofit/>
          </a:bodyPr>
          <a:lstStyle/>
          <a:p>
            <a:pPr algn="ctr"/>
            <a:r>
              <a:rPr lang="en-IN" sz="1800" b="1" i="1" dirty="0">
                <a:latin typeface="var(--cds-font-family-source-sans-pro)"/>
              </a:rPr>
              <a:t>Supervised Vs Unsupervised learning</a:t>
            </a:r>
          </a:p>
        </p:txBody>
      </p:sp>
      <p:sp>
        <p:nvSpPr>
          <p:cNvPr id="3" name="Subtitle 2">
            <a:extLst>
              <a:ext uri="{FF2B5EF4-FFF2-40B4-BE49-F238E27FC236}">
                <a16:creationId xmlns:a16="http://schemas.microsoft.com/office/drawing/2014/main" id="{EC8056BC-C82B-BAA4-1F12-4E558D5DF931}"/>
              </a:ext>
            </a:extLst>
          </p:cNvPr>
          <p:cNvSpPr>
            <a:spLocks noGrp="1"/>
          </p:cNvSpPr>
          <p:nvPr>
            <p:ph type="subTitle" idx="1"/>
          </p:nvPr>
        </p:nvSpPr>
        <p:spPr>
          <a:xfrm>
            <a:off x="462116" y="766916"/>
            <a:ext cx="11042496" cy="5771536"/>
          </a:xfrm>
        </p:spPr>
        <p:txBody>
          <a:bodyPr>
            <a:normAutofit lnSpcReduction="10000"/>
          </a:bodyPr>
          <a:lstStyle/>
          <a:p>
            <a:r>
              <a:rPr lang="en-US" b="1" i="1" dirty="0">
                <a:solidFill>
                  <a:srgbClr val="333333"/>
                </a:solidFill>
                <a:effectLst/>
                <a:latin typeface="var(--cds-font-family-source-sans-pro)"/>
              </a:rPr>
              <a:t>Supervised learning </a:t>
            </a:r>
            <a:r>
              <a:rPr lang="en-US" b="0" i="0" dirty="0">
                <a:solidFill>
                  <a:srgbClr val="333333"/>
                </a:solidFill>
                <a:effectLst/>
                <a:latin typeface="var(--cds-font-family-source-sans-pro)"/>
              </a:rPr>
              <a:t>is a machine learning method in which models are trained using labeled data. In supervised learning, models need to find the mapping function to map the input variable (X) with the output variable (Y)</a:t>
            </a:r>
          </a:p>
          <a:p>
            <a:r>
              <a:rPr lang="en-US" dirty="0">
                <a:solidFill>
                  <a:srgbClr val="333333"/>
                </a:solidFill>
                <a:latin typeface="var(--cds-font-family-source-sans-pro)"/>
              </a:rPr>
              <a:t> Y = f(x)</a:t>
            </a:r>
          </a:p>
          <a:p>
            <a:r>
              <a:rPr lang="en-US" b="0" i="0" dirty="0">
                <a:solidFill>
                  <a:srgbClr val="333333"/>
                </a:solidFill>
                <a:effectLst/>
                <a:latin typeface="var(--cds-font-family-source-sans-pro)"/>
              </a:rPr>
              <a:t>Supervised learning needs supervision to train the model, which is similar to as a student learns things in the presence of a teacher. Supervised learning can be used for two types of problems: </a:t>
            </a:r>
            <a:r>
              <a:rPr lang="en-US" b="1" i="0" dirty="0">
                <a:solidFill>
                  <a:srgbClr val="333333"/>
                </a:solidFill>
                <a:effectLst/>
                <a:latin typeface="var(--cds-font-family-source-sans-pro)"/>
              </a:rPr>
              <a:t>Classification</a:t>
            </a:r>
            <a:r>
              <a:rPr lang="en-US" b="0" i="0" dirty="0">
                <a:solidFill>
                  <a:srgbClr val="333333"/>
                </a:solidFill>
                <a:effectLst/>
                <a:latin typeface="var(--cds-font-family-source-sans-pro)"/>
              </a:rPr>
              <a:t> and </a:t>
            </a:r>
            <a:r>
              <a:rPr lang="en-US" b="1" i="0" dirty="0">
                <a:solidFill>
                  <a:srgbClr val="333333"/>
                </a:solidFill>
                <a:effectLst/>
                <a:latin typeface="var(--cds-font-family-source-sans-pro)"/>
              </a:rPr>
              <a:t>Regression</a:t>
            </a:r>
            <a:r>
              <a:rPr lang="en-US" b="0" i="0" dirty="0">
                <a:solidFill>
                  <a:srgbClr val="333333"/>
                </a:solidFill>
                <a:effectLst/>
                <a:latin typeface="var(--cds-font-family-source-sans-pro)"/>
              </a:rPr>
              <a:t>.</a:t>
            </a:r>
          </a:p>
          <a:p>
            <a:r>
              <a:rPr lang="en-US" b="1" i="0" dirty="0">
                <a:solidFill>
                  <a:srgbClr val="333333"/>
                </a:solidFill>
                <a:effectLst/>
                <a:latin typeface="var(--cds-font-family-source-sans-pro)"/>
              </a:rPr>
              <a:t>Example:</a:t>
            </a:r>
            <a:r>
              <a:rPr lang="en-US" b="0" i="0" dirty="0">
                <a:solidFill>
                  <a:srgbClr val="333333"/>
                </a:solidFill>
                <a:effectLst/>
                <a:latin typeface="var(--cds-font-family-source-sans-pro)"/>
              </a:rPr>
              <a:t> Suppose we have an image of different types of fruits. The task of our supervised learning model is to identify the fruits and classify them accordingly. So to identify the image in supervised learning, we will give the input data as well as output for that, which means we will train the model by the shape, size, color, and taste of each fruit. Once the training is completed, we will test the model by giving the new set of fruit. The model will identify the fruit and predict the output using a suitable algorithm.</a:t>
            </a:r>
          </a:p>
          <a:p>
            <a:r>
              <a:rPr lang="en-US" b="1" i="1" dirty="0">
                <a:solidFill>
                  <a:srgbClr val="333333"/>
                </a:solidFill>
                <a:effectLst/>
                <a:latin typeface="var(--cds-font-family-source-sans-pro)"/>
              </a:rPr>
              <a:t>Unsupervised learning </a:t>
            </a:r>
            <a:r>
              <a:rPr lang="en-US" b="0" i="0" dirty="0">
                <a:solidFill>
                  <a:srgbClr val="333333"/>
                </a:solidFill>
                <a:effectLst/>
                <a:latin typeface="var(--cds-font-family-source-sans-pro)"/>
              </a:rPr>
              <a:t>is another machine learning method in which patterns inferred from the unlabeled input data. The goal of unsupervised learning is to find the structure and patterns from the input data. Unsupervised learning does not need any supervision. Instead, it finds patterns from the data by its own</a:t>
            </a:r>
            <a:r>
              <a:rPr lang="en-US" dirty="0">
                <a:solidFill>
                  <a:srgbClr val="333333"/>
                </a:solidFill>
                <a:latin typeface="var(--cds-font-family-source-sans-pro)"/>
              </a:rPr>
              <a:t>.</a:t>
            </a:r>
          </a:p>
          <a:p>
            <a:r>
              <a:rPr lang="en-US" b="0" i="0" dirty="0">
                <a:solidFill>
                  <a:srgbClr val="333333"/>
                </a:solidFill>
                <a:effectLst/>
                <a:latin typeface="var(--cds-font-family-source-sans-pro)"/>
              </a:rPr>
              <a:t>Unsupervised learning can be used for two types of problems: </a:t>
            </a:r>
            <a:r>
              <a:rPr lang="en-US" b="1" i="0" dirty="0">
                <a:solidFill>
                  <a:srgbClr val="333333"/>
                </a:solidFill>
                <a:effectLst/>
                <a:latin typeface="var(--cds-font-family-source-sans-pro)"/>
              </a:rPr>
              <a:t>Clustering</a:t>
            </a:r>
            <a:r>
              <a:rPr lang="en-US" b="0" i="0" dirty="0">
                <a:solidFill>
                  <a:srgbClr val="333333"/>
                </a:solidFill>
                <a:effectLst/>
                <a:latin typeface="var(--cds-font-family-source-sans-pro)"/>
              </a:rPr>
              <a:t> and </a:t>
            </a:r>
            <a:r>
              <a:rPr lang="en-US" b="1" i="0" dirty="0">
                <a:solidFill>
                  <a:srgbClr val="333333"/>
                </a:solidFill>
                <a:effectLst/>
                <a:latin typeface="var(--cds-font-family-source-sans-pro)"/>
              </a:rPr>
              <a:t>Association</a:t>
            </a:r>
          </a:p>
          <a:p>
            <a:r>
              <a:rPr lang="en-US" b="0" i="0" dirty="0">
                <a:solidFill>
                  <a:srgbClr val="333333"/>
                </a:solidFill>
                <a:effectLst/>
                <a:latin typeface="var(--cds-font-family-source-sans-pro)"/>
              </a:rPr>
              <a:t>To understand the unsupervised learning, we will use the example given above. So unlike supervised learning, here we will not provide any supervision to the model. We will just provide the input dataset to the model and allow the model to find the patterns from the data. With the help of a suitable algorithm, the model will train itself and divide the fruits into different groups according to the most similar features between them</a:t>
            </a:r>
            <a:endParaRPr lang="en-US" dirty="0">
              <a:solidFill>
                <a:srgbClr val="333333"/>
              </a:solidFill>
              <a:latin typeface="var(--cds-font-family-source-sans-pro)"/>
            </a:endParaRPr>
          </a:p>
          <a:p>
            <a:endParaRPr lang="en-IN" dirty="0">
              <a:latin typeface="var(--cds-font-family-source-sans-pro)"/>
            </a:endParaRPr>
          </a:p>
        </p:txBody>
      </p:sp>
    </p:spTree>
    <p:extLst>
      <p:ext uri="{BB962C8B-B14F-4D97-AF65-F5344CB8AC3E}">
        <p14:creationId xmlns:p14="http://schemas.microsoft.com/office/powerpoint/2010/main" val="2194056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A5E26AD-05F8-8EFF-22A9-9AD4DAFD12E5}"/>
              </a:ext>
            </a:extLst>
          </p:cNvPr>
          <p:cNvGraphicFramePr>
            <a:graphicFrameLocks noGrp="1"/>
          </p:cNvGraphicFramePr>
          <p:nvPr>
            <p:extLst>
              <p:ext uri="{D42A27DB-BD31-4B8C-83A1-F6EECF244321}">
                <p14:modId xmlns:p14="http://schemas.microsoft.com/office/powerpoint/2010/main" val="1026307300"/>
              </p:ext>
            </p:extLst>
          </p:nvPr>
        </p:nvGraphicFramePr>
        <p:xfrm>
          <a:off x="1553496" y="521110"/>
          <a:ext cx="9733936" cy="5810863"/>
        </p:xfrm>
        <a:graphic>
          <a:graphicData uri="http://schemas.openxmlformats.org/drawingml/2006/table">
            <a:tbl>
              <a:tblPr/>
              <a:tblGrid>
                <a:gridCol w="4866968">
                  <a:extLst>
                    <a:ext uri="{9D8B030D-6E8A-4147-A177-3AD203B41FA5}">
                      <a16:colId xmlns:a16="http://schemas.microsoft.com/office/drawing/2014/main" val="1410159486"/>
                    </a:ext>
                  </a:extLst>
                </a:gridCol>
                <a:gridCol w="4866968">
                  <a:extLst>
                    <a:ext uri="{9D8B030D-6E8A-4147-A177-3AD203B41FA5}">
                      <a16:colId xmlns:a16="http://schemas.microsoft.com/office/drawing/2014/main" val="1919529136"/>
                    </a:ext>
                  </a:extLst>
                </a:gridCol>
              </a:tblGrid>
              <a:tr h="402400">
                <a:tc>
                  <a:txBody>
                    <a:bodyPr/>
                    <a:lstStyle/>
                    <a:p>
                      <a:pPr algn="ctr" fontAlgn="t"/>
                      <a:r>
                        <a:rPr lang="en-IN" sz="1600" b="1" dirty="0">
                          <a:solidFill>
                            <a:srgbClr val="000000"/>
                          </a:solidFill>
                          <a:effectLst/>
                          <a:latin typeface="var(--cds-font-family-source-sans-pro)"/>
                        </a:rPr>
                        <a:t>Supervised Learning</a:t>
                      </a:r>
                    </a:p>
                  </a:txBody>
                  <a:tcPr marL="48376" marR="48376" marT="48376" marB="48376">
                    <a:lnL w="7620" cap="flat" cmpd="sng" algn="ctr">
                      <a:solidFill>
                        <a:srgbClr val="208E53"/>
                      </a:solidFill>
                      <a:prstDash val="solid"/>
                      <a:round/>
                      <a:headEnd type="none" w="med" len="med"/>
                      <a:tailEnd type="none" w="med" len="med"/>
                    </a:lnL>
                    <a:lnR w="7620" cap="flat" cmpd="sng" algn="ctr">
                      <a:solidFill>
                        <a:srgbClr val="208E53"/>
                      </a:solidFill>
                      <a:prstDash val="solid"/>
                      <a:round/>
                      <a:headEnd type="none" w="med" len="med"/>
                      <a:tailEnd type="none" w="med" len="med"/>
                    </a:lnR>
                    <a:lnT w="7620" cap="flat" cmpd="sng" algn="ctr">
                      <a:solidFill>
                        <a:srgbClr val="208E53"/>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ctr" fontAlgn="t"/>
                      <a:r>
                        <a:rPr lang="en-IN" sz="1600" b="1" dirty="0">
                          <a:solidFill>
                            <a:srgbClr val="000000"/>
                          </a:solidFill>
                          <a:effectLst/>
                          <a:latin typeface="var(--cds-font-family-source-sans-pro)"/>
                        </a:rPr>
                        <a:t>Unsupervised Learning</a:t>
                      </a:r>
                    </a:p>
                  </a:txBody>
                  <a:tcPr marL="48376" marR="48376" marT="48376" marB="48376">
                    <a:lnL w="7620" cap="flat" cmpd="sng" algn="ctr">
                      <a:solidFill>
                        <a:srgbClr val="208E53"/>
                      </a:solidFill>
                      <a:prstDash val="solid"/>
                      <a:round/>
                      <a:headEnd type="none" w="med" len="med"/>
                      <a:tailEnd type="none" w="med" len="med"/>
                    </a:lnL>
                    <a:lnR w="7620" cap="flat" cmpd="sng" algn="ctr">
                      <a:solidFill>
                        <a:srgbClr val="208E53"/>
                      </a:solidFill>
                      <a:prstDash val="solid"/>
                      <a:round/>
                      <a:headEnd type="none" w="med" len="med"/>
                      <a:tailEnd type="none" w="med" len="med"/>
                    </a:lnR>
                    <a:lnT w="7620" cap="flat" cmpd="sng" algn="ctr">
                      <a:solidFill>
                        <a:srgbClr val="208E53"/>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843207805"/>
                  </a:ext>
                </a:extLst>
              </a:tr>
              <a:tr h="678588">
                <a:tc>
                  <a:txBody>
                    <a:bodyPr/>
                    <a:lstStyle/>
                    <a:p>
                      <a:pPr algn="just" fontAlgn="t"/>
                      <a:r>
                        <a:rPr lang="en-US" sz="1600">
                          <a:solidFill>
                            <a:srgbClr val="333333"/>
                          </a:solidFill>
                          <a:effectLst/>
                          <a:latin typeface="var(--cds-font-family-source-sans-pro)"/>
                        </a:rPr>
                        <a:t>Supervised learning algorithms are trained using labeled data.</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var(--cds-font-family-source-sans-pro)"/>
                        </a:rPr>
                        <a:t>Unsupervised learning algorithms are trained using unlabeled data.</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55010817"/>
                  </a:ext>
                </a:extLst>
              </a:tr>
              <a:tr h="876816">
                <a:tc>
                  <a:txBody>
                    <a:bodyPr/>
                    <a:lstStyle/>
                    <a:p>
                      <a:pPr algn="just" fontAlgn="t"/>
                      <a:r>
                        <a:rPr lang="en-US" sz="1600" dirty="0">
                          <a:solidFill>
                            <a:srgbClr val="333333"/>
                          </a:solidFill>
                          <a:effectLst/>
                          <a:latin typeface="var(--cds-font-family-source-sans-pro)"/>
                        </a:rPr>
                        <a:t>Supervised learning model takes direct feedback to check if it is predicting correct output or not.</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var(--cds-font-family-source-sans-pro)"/>
                        </a:rPr>
                        <a:t>Unsupervised learning model does not take any feedback.</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02931305"/>
                  </a:ext>
                </a:extLst>
              </a:tr>
              <a:tr h="678588">
                <a:tc>
                  <a:txBody>
                    <a:bodyPr/>
                    <a:lstStyle/>
                    <a:p>
                      <a:pPr algn="just" fontAlgn="t"/>
                      <a:r>
                        <a:rPr lang="en-US" sz="1600" dirty="0">
                          <a:solidFill>
                            <a:srgbClr val="333333"/>
                          </a:solidFill>
                          <a:effectLst/>
                          <a:latin typeface="var(--cds-font-family-source-sans-pro)"/>
                        </a:rPr>
                        <a:t>Supervised learning model predicts the output.</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var(--cds-font-family-source-sans-pro)"/>
                        </a:rPr>
                        <a:t>Unsupervised learning model finds the hidden patterns in data.</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769780257"/>
                  </a:ext>
                </a:extLst>
              </a:tr>
              <a:tr h="678588">
                <a:tc>
                  <a:txBody>
                    <a:bodyPr/>
                    <a:lstStyle/>
                    <a:p>
                      <a:pPr algn="just" fontAlgn="t"/>
                      <a:r>
                        <a:rPr lang="en-US" sz="1600">
                          <a:solidFill>
                            <a:srgbClr val="333333"/>
                          </a:solidFill>
                          <a:effectLst/>
                          <a:latin typeface="var(--cds-font-family-source-sans-pro)"/>
                        </a:rPr>
                        <a:t>In supervised learning, input data is provided to the model along with the output.</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var(--cds-font-family-source-sans-pro)"/>
                        </a:rPr>
                        <a:t>In unsupervised learning, only input data is provided to the model.</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402952895"/>
                  </a:ext>
                </a:extLst>
              </a:tr>
              <a:tr h="940479">
                <a:tc>
                  <a:txBody>
                    <a:bodyPr/>
                    <a:lstStyle/>
                    <a:p>
                      <a:pPr algn="just" fontAlgn="t"/>
                      <a:r>
                        <a:rPr lang="en-US" sz="1600" dirty="0">
                          <a:solidFill>
                            <a:srgbClr val="333333"/>
                          </a:solidFill>
                          <a:effectLst/>
                          <a:latin typeface="var(--cds-font-family-source-sans-pro)"/>
                        </a:rPr>
                        <a:t>The goal of supervised learning is to train the model so that it can predict the output when it is given new data.</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var(--cds-font-family-source-sans-pro)"/>
                        </a:rPr>
                        <a:t>The goal of unsupervised learning is to find the hidden patterns and useful insights from the unknown dataset.</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918223754"/>
                  </a:ext>
                </a:extLst>
              </a:tr>
              <a:tr h="678588">
                <a:tc>
                  <a:txBody>
                    <a:bodyPr/>
                    <a:lstStyle/>
                    <a:p>
                      <a:pPr algn="just" fontAlgn="t"/>
                      <a:r>
                        <a:rPr lang="en-US" sz="1600">
                          <a:solidFill>
                            <a:srgbClr val="333333"/>
                          </a:solidFill>
                          <a:effectLst/>
                          <a:latin typeface="var(--cds-font-family-source-sans-pro)"/>
                        </a:rPr>
                        <a:t>Supervised learning needs supervision to train the model.</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var(--cds-font-family-source-sans-pro)"/>
                        </a:rPr>
                        <a:t>Unsupervised learning does not need any supervision to train the model.</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408536250"/>
                  </a:ext>
                </a:extLst>
              </a:tr>
              <a:tr h="876816">
                <a:tc>
                  <a:txBody>
                    <a:bodyPr/>
                    <a:lstStyle/>
                    <a:p>
                      <a:pPr algn="just" fontAlgn="t"/>
                      <a:r>
                        <a:rPr lang="en-US" sz="1600">
                          <a:solidFill>
                            <a:srgbClr val="333333"/>
                          </a:solidFill>
                          <a:effectLst/>
                          <a:latin typeface="var(--cds-font-family-source-sans-pro)"/>
                        </a:rPr>
                        <a:t>Supervised learning can be categorized in </a:t>
                      </a:r>
                      <a:r>
                        <a:rPr lang="en-US" sz="1600" b="1">
                          <a:solidFill>
                            <a:srgbClr val="333333"/>
                          </a:solidFill>
                          <a:effectLst/>
                          <a:latin typeface="var(--cds-font-family-source-sans-pro)"/>
                        </a:rPr>
                        <a:t>Classification</a:t>
                      </a:r>
                      <a:r>
                        <a:rPr lang="en-US" sz="1600">
                          <a:solidFill>
                            <a:srgbClr val="333333"/>
                          </a:solidFill>
                          <a:effectLst/>
                          <a:latin typeface="var(--cds-font-family-source-sans-pro)"/>
                        </a:rPr>
                        <a:t> and </a:t>
                      </a:r>
                      <a:r>
                        <a:rPr lang="en-US" sz="1600" b="1">
                          <a:solidFill>
                            <a:srgbClr val="333333"/>
                          </a:solidFill>
                          <a:effectLst/>
                          <a:latin typeface="var(--cds-font-family-source-sans-pro)"/>
                        </a:rPr>
                        <a:t>Regression</a:t>
                      </a:r>
                      <a:r>
                        <a:rPr lang="en-US" sz="1600">
                          <a:solidFill>
                            <a:srgbClr val="333333"/>
                          </a:solidFill>
                          <a:effectLst/>
                          <a:latin typeface="var(--cds-font-family-source-sans-pro)"/>
                        </a:rPr>
                        <a:t> problems.</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var(--cds-font-family-source-sans-pro)"/>
                        </a:rPr>
                        <a:t>Unsupervised Learning can be classified in </a:t>
                      </a:r>
                      <a:r>
                        <a:rPr lang="en-US" sz="1600" b="1" dirty="0">
                          <a:solidFill>
                            <a:srgbClr val="333333"/>
                          </a:solidFill>
                          <a:effectLst/>
                          <a:latin typeface="var(--cds-font-family-source-sans-pro)"/>
                        </a:rPr>
                        <a:t>Clustering</a:t>
                      </a:r>
                      <a:r>
                        <a:rPr lang="en-US" sz="1600" dirty="0">
                          <a:solidFill>
                            <a:srgbClr val="333333"/>
                          </a:solidFill>
                          <a:effectLst/>
                          <a:latin typeface="var(--cds-font-family-source-sans-pro)"/>
                        </a:rPr>
                        <a:t> and </a:t>
                      </a:r>
                      <a:r>
                        <a:rPr lang="en-US" sz="1600" b="1" dirty="0">
                          <a:solidFill>
                            <a:srgbClr val="333333"/>
                          </a:solidFill>
                          <a:effectLst/>
                          <a:latin typeface="var(--cds-font-family-source-sans-pro)"/>
                        </a:rPr>
                        <a:t>Associations</a:t>
                      </a:r>
                      <a:r>
                        <a:rPr lang="en-US" sz="1600" dirty="0">
                          <a:solidFill>
                            <a:srgbClr val="333333"/>
                          </a:solidFill>
                          <a:effectLst/>
                          <a:latin typeface="var(--cds-font-family-source-sans-pro)"/>
                        </a:rPr>
                        <a:t> problems.</a:t>
                      </a:r>
                    </a:p>
                  </a:txBody>
                  <a:tcPr marL="32251" marR="32251" marT="32251" marB="32251">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918965272"/>
                  </a:ext>
                </a:extLst>
              </a:tr>
            </a:tbl>
          </a:graphicData>
        </a:graphic>
      </p:graphicFrame>
    </p:spTree>
    <p:extLst>
      <p:ext uri="{BB962C8B-B14F-4D97-AF65-F5344CB8AC3E}">
        <p14:creationId xmlns:p14="http://schemas.microsoft.com/office/powerpoint/2010/main" val="2115685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4F23C-8FD1-DC6F-6563-CFE0346C0945}"/>
              </a:ext>
            </a:extLst>
          </p:cNvPr>
          <p:cNvSpPr>
            <a:spLocks noGrp="1"/>
          </p:cNvSpPr>
          <p:nvPr>
            <p:ph type="ctrTitle"/>
          </p:nvPr>
        </p:nvSpPr>
        <p:spPr>
          <a:xfrm>
            <a:off x="894735" y="78658"/>
            <a:ext cx="10609877" cy="491613"/>
          </a:xfrm>
        </p:spPr>
        <p:txBody>
          <a:bodyPr>
            <a:normAutofit/>
          </a:bodyPr>
          <a:lstStyle/>
          <a:p>
            <a:pPr algn="ctr"/>
            <a:r>
              <a:rPr lang="en-IN" sz="1800" b="1" i="1" dirty="0">
                <a:latin typeface="var(--cds-font-family-source-sans-pro)"/>
              </a:rPr>
              <a:t>Scikit Learn</a:t>
            </a:r>
          </a:p>
        </p:txBody>
      </p:sp>
      <p:sp>
        <p:nvSpPr>
          <p:cNvPr id="3" name="Subtitle 2">
            <a:extLst>
              <a:ext uri="{FF2B5EF4-FFF2-40B4-BE49-F238E27FC236}">
                <a16:creationId xmlns:a16="http://schemas.microsoft.com/office/drawing/2014/main" id="{FE5996ED-EC56-7F17-DD78-32CA3BC503C5}"/>
              </a:ext>
            </a:extLst>
          </p:cNvPr>
          <p:cNvSpPr>
            <a:spLocks noGrp="1"/>
          </p:cNvSpPr>
          <p:nvPr>
            <p:ph type="subTitle" idx="1"/>
          </p:nvPr>
        </p:nvSpPr>
        <p:spPr>
          <a:xfrm>
            <a:off x="993058" y="570271"/>
            <a:ext cx="10815483" cy="5948516"/>
          </a:xfrm>
        </p:spPr>
        <p:txBody>
          <a:bodyPr>
            <a:normAutofit lnSpcReduction="10000"/>
          </a:bodyPr>
          <a:lstStyle/>
          <a:p>
            <a:pPr marL="285750" indent="-285750">
              <a:buFont typeface="Wingdings" panose="05000000000000000000" pitchFamily="2" charset="2"/>
              <a:buChar char="Ø"/>
            </a:pPr>
            <a:r>
              <a:rPr lang="en-US" b="1" i="0" dirty="0">
                <a:solidFill>
                  <a:schemeClr val="tx1"/>
                </a:solidFill>
                <a:effectLst/>
                <a:latin typeface="var(--cds-font-family-source-sans-pro)"/>
              </a:rPr>
              <a:t>scikit-learn</a:t>
            </a:r>
            <a:r>
              <a:rPr lang="en-US" b="0" i="0" dirty="0">
                <a:solidFill>
                  <a:schemeClr val="tx1"/>
                </a:solidFill>
                <a:effectLst/>
                <a:latin typeface="var(--cds-font-family-source-sans-pro)"/>
              </a:rPr>
              <a:t> (formerly </a:t>
            </a:r>
            <a:r>
              <a:rPr lang="en-US" b="1" i="0" dirty="0">
                <a:solidFill>
                  <a:schemeClr val="tx1"/>
                </a:solidFill>
                <a:effectLst/>
                <a:latin typeface="var(--cds-font-family-source-sans-pro)"/>
              </a:rPr>
              <a:t>scikits.learn</a:t>
            </a:r>
            <a:r>
              <a:rPr lang="en-US" b="0" i="0" dirty="0">
                <a:solidFill>
                  <a:schemeClr val="tx1"/>
                </a:solidFill>
                <a:effectLst/>
                <a:latin typeface="var(--cds-font-family-source-sans-pro)"/>
              </a:rPr>
              <a:t> and also known as </a:t>
            </a:r>
            <a:r>
              <a:rPr lang="en-US" b="1" i="0" dirty="0" err="1">
                <a:solidFill>
                  <a:schemeClr val="tx1"/>
                </a:solidFill>
                <a:effectLst/>
                <a:latin typeface="var(--cds-font-family-source-sans-pro)"/>
              </a:rPr>
              <a:t>sklearn</a:t>
            </a:r>
            <a:r>
              <a:rPr lang="en-US" b="0" i="0" dirty="0">
                <a:solidFill>
                  <a:schemeClr val="tx1"/>
                </a:solidFill>
                <a:effectLst/>
                <a:latin typeface="var(--cds-font-family-source-sans-pro)"/>
              </a:rPr>
              <a:t>) is a </a:t>
            </a:r>
            <a:r>
              <a:rPr lang="en-US" b="0" i="0" strike="noStrike" dirty="0">
                <a:solidFill>
                  <a:schemeClr val="tx1"/>
                </a:solidFill>
                <a:effectLst/>
                <a:latin typeface="var(--cds-font-family-source-sans-pro)"/>
                <a:hlinkClick r:id="rId2" tooltip="Free software">
                  <a:extLst>
                    <a:ext uri="{A12FA001-AC4F-418D-AE19-62706E023703}">
                      <ahyp:hlinkClr xmlns:ahyp="http://schemas.microsoft.com/office/drawing/2018/hyperlinkcolor" val="tx"/>
                    </a:ext>
                  </a:extLst>
                </a:hlinkClick>
              </a:rPr>
              <a:t>free software</a:t>
            </a:r>
            <a:r>
              <a:rPr lang="en-US" b="0" i="0" dirty="0">
                <a:solidFill>
                  <a:schemeClr val="tx1"/>
                </a:solidFill>
                <a:effectLst/>
                <a:latin typeface="var(--cds-font-family-source-sans-pro)"/>
              </a:rPr>
              <a:t> </a:t>
            </a:r>
            <a:r>
              <a:rPr lang="en-US" b="0" i="0" strike="noStrike" dirty="0">
                <a:solidFill>
                  <a:schemeClr val="tx1"/>
                </a:solidFill>
                <a:effectLst/>
                <a:latin typeface="var(--cds-font-family-source-sans-pro)"/>
                <a:hlinkClick r:id="rId3" tooltip="Machine learning">
                  <a:extLst>
                    <a:ext uri="{A12FA001-AC4F-418D-AE19-62706E023703}">
                      <ahyp:hlinkClr xmlns:ahyp="http://schemas.microsoft.com/office/drawing/2018/hyperlinkcolor" val="tx"/>
                    </a:ext>
                  </a:extLst>
                </a:hlinkClick>
              </a:rPr>
              <a:t>machine learning</a:t>
            </a:r>
            <a:r>
              <a:rPr lang="en-US" b="0" i="0" dirty="0">
                <a:solidFill>
                  <a:schemeClr val="tx1"/>
                </a:solidFill>
                <a:effectLst/>
                <a:latin typeface="var(--cds-font-family-source-sans-pro)"/>
              </a:rPr>
              <a:t> </a:t>
            </a:r>
            <a:r>
              <a:rPr lang="en-US" b="0" i="0" strike="noStrike" dirty="0">
                <a:solidFill>
                  <a:schemeClr val="tx1"/>
                </a:solidFill>
                <a:effectLst/>
                <a:latin typeface="var(--cds-font-family-source-sans-pro)"/>
                <a:hlinkClick r:id="rId4" tooltip="Library (computing)">
                  <a:extLst>
                    <a:ext uri="{A12FA001-AC4F-418D-AE19-62706E023703}">
                      <ahyp:hlinkClr xmlns:ahyp="http://schemas.microsoft.com/office/drawing/2018/hyperlinkcolor" val="tx"/>
                    </a:ext>
                  </a:extLst>
                </a:hlinkClick>
              </a:rPr>
              <a:t>library</a:t>
            </a:r>
            <a:r>
              <a:rPr lang="en-US" b="0" i="0" dirty="0">
                <a:solidFill>
                  <a:schemeClr val="tx1"/>
                </a:solidFill>
                <a:effectLst/>
                <a:latin typeface="var(--cds-font-family-source-sans-pro)"/>
              </a:rPr>
              <a:t> for the </a:t>
            </a:r>
            <a:r>
              <a:rPr lang="en-US" b="0" i="0" strike="noStrike" dirty="0">
                <a:solidFill>
                  <a:schemeClr val="tx1"/>
                </a:solidFill>
                <a:effectLst/>
                <a:latin typeface="var(--cds-font-family-source-sans-pro)"/>
                <a:hlinkClick r:id="rId5" tooltip="Python (programming language)">
                  <a:extLst>
                    <a:ext uri="{A12FA001-AC4F-418D-AE19-62706E023703}">
                      <ahyp:hlinkClr xmlns:ahyp="http://schemas.microsoft.com/office/drawing/2018/hyperlinkcolor" val="tx"/>
                    </a:ext>
                  </a:extLst>
                </a:hlinkClick>
              </a:rPr>
              <a:t>Python</a:t>
            </a:r>
            <a:r>
              <a:rPr lang="en-US" b="0" i="0" dirty="0">
                <a:solidFill>
                  <a:schemeClr val="tx1"/>
                </a:solidFill>
                <a:effectLst/>
                <a:latin typeface="var(--cds-font-family-source-sans-pro)"/>
              </a:rPr>
              <a:t> </a:t>
            </a:r>
            <a:r>
              <a:rPr lang="en-US" b="0" i="0" strike="noStrike" dirty="0">
                <a:solidFill>
                  <a:schemeClr val="tx1"/>
                </a:solidFill>
                <a:effectLst/>
                <a:latin typeface="var(--cds-font-family-source-sans-pro)"/>
                <a:hlinkClick r:id="rId6" tooltip="Programming language">
                  <a:extLst>
                    <a:ext uri="{A12FA001-AC4F-418D-AE19-62706E023703}">
                      <ahyp:hlinkClr xmlns:ahyp="http://schemas.microsoft.com/office/drawing/2018/hyperlinkcolor" val="tx"/>
                    </a:ext>
                  </a:extLst>
                </a:hlinkClick>
              </a:rPr>
              <a:t>programming language</a:t>
            </a:r>
            <a:r>
              <a:rPr lang="en-US" b="0" i="0" dirty="0">
                <a:solidFill>
                  <a:schemeClr val="tx1"/>
                </a:solidFill>
                <a:effectLst/>
                <a:latin typeface="var(--cds-font-family-source-sans-pro)"/>
              </a:rPr>
              <a:t>.</a:t>
            </a:r>
            <a:r>
              <a:rPr lang="en-US" b="0" i="0" strike="noStrike" baseline="30000" dirty="0">
                <a:solidFill>
                  <a:schemeClr val="tx1"/>
                </a:solidFill>
                <a:effectLst/>
                <a:latin typeface="var(--cds-font-family-source-sans-pro)"/>
                <a:hlinkClick r:id="rId7">
                  <a:extLst>
                    <a:ext uri="{A12FA001-AC4F-418D-AE19-62706E023703}">
                      <ahyp:hlinkClr xmlns:ahyp="http://schemas.microsoft.com/office/drawing/2018/hyperlinkcolor" val="tx"/>
                    </a:ext>
                  </a:extLst>
                </a:hlinkClick>
              </a:rPr>
              <a:t>[3]</a:t>
            </a:r>
            <a:r>
              <a:rPr lang="en-US" b="0" i="0" dirty="0">
                <a:solidFill>
                  <a:schemeClr val="tx1"/>
                </a:solidFill>
                <a:effectLst/>
                <a:latin typeface="var(--cds-font-family-source-sans-pro)"/>
              </a:rPr>
              <a:t> It features various </a:t>
            </a:r>
            <a:r>
              <a:rPr lang="en-US" b="0" i="0" strike="noStrike" dirty="0">
                <a:solidFill>
                  <a:schemeClr val="tx1"/>
                </a:solidFill>
                <a:effectLst/>
                <a:latin typeface="var(--cds-font-family-source-sans-pro)"/>
                <a:hlinkClick r:id="rId8" tooltip="Statistical classification">
                  <a:extLst>
                    <a:ext uri="{A12FA001-AC4F-418D-AE19-62706E023703}">
                      <ahyp:hlinkClr xmlns:ahyp="http://schemas.microsoft.com/office/drawing/2018/hyperlinkcolor" val="tx"/>
                    </a:ext>
                  </a:extLst>
                </a:hlinkClick>
              </a:rPr>
              <a:t>classification</a:t>
            </a:r>
            <a:r>
              <a:rPr lang="en-US" b="0" i="0" dirty="0">
                <a:solidFill>
                  <a:schemeClr val="tx1"/>
                </a:solidFill>
                <a:effectLst/>
                <a:latin typeface="var(--cds-font-family-source-sans-pro)"/>
              </a:rPr>
              <a:t>, </a:t>
            </a:r>
            <a:r>
              <a:rPr lang="en-US" b="0" i="0" strike="noStrike" dirty="0">
                <a:solidFill>
                  <a:schemeClr val="tx1"/>
                </a:solidFill>
                <a:effectLst/>
                <a:latin typeface="var(--cds-font-family-source-sans-pro)"/>
                <a:hlinkClick r:id="rId9" tooltip="Regression analysis">
                  <a:extLst>
                    <a:ext uri="{A12FA001-AC4F-418D-AE19-62706E023703}">
                      <ahyp:hlinkClr xmlns:ahyp="http://schemas.microsoft.com/office/drawing/2018/hyperlinkcolor" val="tx"/>
                    </a:ext>
                  </a:extLst>
                </a:hlinkClick>
              </a:rPr>
              <a:t>regression</a:t>
            </a:r>
            <a:r>
              <a:rPr lang="en-US" b="0" i="0" dirty="0">
                <a:solidFill>
                  <a:schemeClr val="tx1"/>
                </a:solidFill>
                <a:effectLst/>
                <a:latin typeface="var(--cds-font-family-source-sans-pro)"/>
              </a:rPr>
              <a:t> and </a:t>
            </a:r>
            <a:r>
              <a:rPr lang="en-US" b="0" i="0" strike="noStrike" dirty="0">
                <a:solidFill>
                  <a:schemeClr val="tx1"/>
                </a:solidFill>
                <a:effectLst/>
                <a:latin typeface="var(--cds-font-family-source-sans-pro)"/>
                <a:hlinkClick r:id="rId10" tooltip="Cluster analysis">
                  <a:extLst>
                    <a:ext uri="{A12FA001-AC4F-418D-AE19-62706E023703}">
                      <ahyp:hlinkClr xmlns:ahyp="http://schemas.microsoft.com/office/drawing/2018/hyperlinkcolor" val="tx"/>
                    </a:ext>
                  </a:extLst>
                </a:hlinkClick>
              </a:rPr>
              <a:t>clustering</a:t>
            </a:r>
            <a:r>
              <a:rPr lang="en-US" b="0" i="0" dirty="0">
                <a:solidFill>
                  <a:schemeClr val="tx1"/>
                </a:solidFill>
                <a:effectLst/>
                <a:latin typeface="var(--cds-font-family-source-sans-pro)"/>
              </a:rPr>
              <a:t> algorithms including </a:t>
            </a:r>
            <a:r>
              <a:rPr lang="en-US" b="0" i="0" strike="noStrike" dirty="0">
                <a:solidFill>
                  <a:schemeClr val="tx1"/>
                </a:solidFill>
                <a:effectLst/>
                <a:latin typeface="var(--cds-font-family-source-sans-pro)"/>
                <a:hlinkClick r:id="rId11" tooltip="Support vector machine">
                  <a:extLst>
                    <a:ext uri="{A12FA001-AC4F-418D-AE19-62706E023703}">
                      <ahyp:hlinkClr xmlns:ahyp="http://schemas.microsoft.com/office/drawing/2018/hyperlinkcolor" val="tx"/>
                    </a:ext>
                  </a:extLst>
                </a:hlinkClick>
              </a:rPr>
              <a:t>support-vector machines</a:t>
            </a:r>
            <a:r>
              <a:rPr lang="en-US" b="0" i="0" dirty="0">
                <a:solidFill>
                  <a:schemeClr val="tx1"/>
                </a:solidFill>
                <a:effectLst/>
                <a:latin typeface="var(--cds-font-family-source-sans-pro)"/>
              </a:rPr>
              <a:t>, </a:t>
            </a:r>
            <a:r>
              <a:rPr lang="en-US" b="0" i="0" strike="noStrike" dirty="0">
                <a:solidFill>
                  <a:schemeClr val="tx1"/>
                </a:solidFill>
                <a:effectLst/>
                <a:latin typeface="var(--cds-font-family-source-sans-pro)"/>
                <a:hlinkClick r:id="rId12" tooltip="Random forests">
                  <a:extLst>
                    <a:ext uri="{A12FA001-AC4F-418D-AE19-62706E023703}">
                      <ahyp:hlinkClr xmlns:ahyp="http://schemas.microsoft.com/office/drawing/2018/hyperlinkcolor" val="tx"/>
                    </a:ext>
                  </a:extLst>
                </a:hlinkClick>
              </a:rPr>
              <a:t>random forests</a:t>
            </a:r>
            <a:r>
              <a:rPr lang="en-US" b="0" i="0" dirty="0">
                <a:solidFill>
                  <a:schemeClr val="tx1"/>
                </a:solidFill>
                <a:effectLst/>
                <a:latin typeface="var(--cds-font-family-source-sans-pro)"/>
              </a:rPr>
              <a:t>, </a:t>
            </a:r>
            <a:r>
              <a:rPr lang="en-US" b="0" i="0" strike="noStrike" dirty="0">
                <a:solidFill>
                  <a:schemeClr val="tx1"/>
                </a:solidFill>
                <a:effectLst/>
                <a:latin typeface="var(--cds-font-family-source-sans-pro)"/>
                <a:hlinkClick r:id="rId13" tooltip="Gradient boosting">
                  <a:extLst>
                    <a:ext uri="{A12FA001-AC4F-418D-AE19-62706E023703}">
                      <ahyp:hlinkClr xmlns:ahyp="http://schemas.microsoft.com/office/drawing/2018/hyperlinkcolor" val="tx"/>
                    </a:ext>
                  </a:extLst>
                </a:hlinkClick>
              </a:rPr>
              <a:t>gradient boosting</a:t>
            </a:r>
            <a:r>
              <a:rPr lang="en-US" b="0" i="0" dirty="0">
                <a:solidFill>
                  <a:schemeClr val="tx1"/>
                </a:solidFill>
                <a:effectLst/>
                <a:latin typeface="var(--cds-font-family-source-sans-pro)"/>
              </a:rPr>
              <a:t>, </a:t>
            </a:r>
            <a:r>
              <a:rPr lang="en-US" b="0" i="1" strike="noStrike" dirty="0">
                <a:solidFill>
                  <a:schemeClr val="tx1"/>
                </a:solidFill>
                <a:effectLst/>
                <a:latin typeface="var(--cds-font-family-source-sans-pro)"/>
                <a:hlinkClick r:id="rId14" tooltip="K-means clustering">
                  <a:extLst>
                    <a:ext uri="{A12FA001-AC4F-418D-AE19-62706E023703}">
                      <ahyp:hlinkClr xmlns:ahyp="http://schemas.microsoft.com/office/drawing/2018/hyperlinkcolor" val="tx"/>
                    </a:ext>
                  </a:extLst>
                </a:hlinkClick>
              </a:rPr>
              <a:t>k</a:t>
            </a:r>
            <a:r>
              <a:rPr lang="en-US" b="0" i="0" strike="noStrike" dirty="0">
                <a:solidFill>
                  <a:schemeClr val="tx1"/>
                </a:solidFill>
                <a:effectLst/>
                <a:latin typeface="var(--cds-font-family-source-sans-pro)"/>
                <a:hlinkClick r:id="rId14" tooltip="K-means clustering">
                  <a:extLst>
                    <a:ext uri="{A12FA001-AC4F-418D-AE19-62706E023703}">
                      <ahyp:hlinkClr xmlns:ahyp="http://schemas.microsoft.com/office/drawing/2018/hyperlinkcolor" val="tx"/>
                    </a:ext>
                  </a:extLst>
                </a:hlinkClick>
              </a:rPr>
              <a:t>-means</a:t>
            </a:r>
            <a:r>
              <a:rPr lang="en-US" b="0" i="0" dirty="0">
                <a:solidFill>
                  <a:schemeClr val="tx1"/>
                </a:solidFill>
                <a:effectLst/>
                <a:latin typeface="var(--cds-font-family-source-sans-pro)"/>
              </a:rPr>
              <a:t> and </a:t>
            </a:r>
            <a:r>
              <a:rPr lang="en-US" b="0" i="0" strike="noStrike" dirty="0">
                <a:solidFill>
                  <a:schemeClr val="tx1"/>
                </a:solidFill>
                <a:effectLst/>
                <a:latin typeface="var(--cds-font-family-source-sans-pro)"/>
                <a:hlinkClick r:id="rId15" tooltip="DBSCAN">
                  <a:extLst>
                    <a:ext uri="{A12FA001-AC4F-418D-AE19-62706E023703}">
                      <ahyp:hlinkClr xmlns:ahyp="http://schemas.microsoft.com/office/drawing/2018/hyperlinkcolor" val="tx"/>
                    </a:ext>
                  </a:extLst>
                </a:hlinkClick>
              </a:rPr>
              <a:t>DBSCAN</a:t>
            </a:r>
            <a:r>
              <a:rPr lang="en-US" b="0" i="0" dirty="0">
                <a:solidFill>
                  <a:schemeClr val="tx1"/>
                </a:solidFill>
                <a:effectLst/>
                <a:latin typeface="var(--cds-font-family-source-sans-pro)"/>
              </a:rPr>
              <a:t>, and is designed to interoperate with the Python numerical and scientific libraries </a:t>
            </a:r>
            <a:r>
              <a:rPr lang="en-US" b="0" i="0" strike="noStrike" dirty="0">
                <a:solidFill>
                  <a:schemeClr val="tx1"/>
                </a:solidFill>
                <a:effectLst/>
                <a:latin typeface="var(--cds-font-family-source-sans-pro)"/>
                <a:hlinkClick r:id="rId16" tooltip="NumPy">
                  <a:extLst>
                    <a:ext uri="{A12FA001-AC4F-418D-AE19-62706E023703}">
                      <ahyp:hlinkClr xmlns:ahyp="http://schemas.microsoft.com/office/drawing/2018/hyperlinkcolor" val="tx"/>
                    </a:ext>
                  </a:extLst>
                </a:hlinkClick>
              </a:rPr>
              <a:t>NumPy</a:t>
            </a:r>
            <a:r>
              <a:rPr lang="en-US" b="0" i="0" dirty="0">
                <a:solidFill>
                  <a:schemeClr val="tx1"/>
                </a:solidFill>
                <a:effectLst/>
                <a:latin typeface="var(--cds-font-family-source-sans-pro)"/>
              </a:rPr>
              <a:t> and </a:t>
            </a:r>
            <a:r>
              <a:rPr lang="en-US" b="0" i="0" strike="noStrike" dirty="0">
                <a:solidFill>
                  <a:schemeClr val="tx1"/>
                </a:solidFill>
                <a:effectLst/>
                <a:latin typeface="var(--cds-font-family-source-sans-pro)"/>
                <a:hlinkClick r:id="rId17" tooltip="SciPy">
                  <a:extLst>
                    <a:ext uri="{A12FA001-AC4F-418D-AE19-62706E023703}">
                      <ahyp:hlinkClr xmlns:ahyp="http://schemas.microsoft.com/office/drawing/2018/hyperlinkcolor" val="tx"/>
                    </a:ext>
                  </a:extLst>
                </a:hlinkClick>
              </a:rPr>
              <a:t>SciPy</a:t>
            </a:r>
            <a:r>
              <a:rPr lang="en-US" b="0" i="0" strike="noStrike" dirty="0">
                <a:solidFill>
                  <a:schemeClr val="tx1"/>
                </a:solidFill>
                <a:effectLst/>
                <a:latin typeface="var(--cds-font-family-source-sans-pro)"/>
              </a:rPr>
              <a:t>.</a:t>
            </a:r>
          </a:p>
          <a:p>
            <a:pPr marL="285750" indent="-285750" algn="l" fontAlgn="base">
              <a:buFont typeface="Wingdings" panose="05000000000000000000" pitchFamily="2" charset="2"/>
              <a:buChar char="Ø"/>
            </a:pPr>
            <a:r>
              <a:rPr lang="en-US" b="1" i="1" dirty="0">
                <a:solidFill>
                  <a:schemeClr val="tx1"/>
                </a:solidFill>
                <a:effectLst/>
                <a:latin typeface="var(--cds-font-family-source-sans-pro)"/>
              </a:rPr>
              <a:t>Some popular groups of models provided by scikit-learn include:</a:t>
            </a:r>
          </a:p>
          <a:p>
            <a:pPr marL="285750" indent="-285750" algn="l" fontAlgn="base">
              <a:buFont typeface="Wingdings" panose="05000000000000000000" pitchFamily="2" charset="2"/>
              <a:buChar char="Ø"/>
            </a:pPr>
            <a:r>
              <a:rPr lang="en-US" b="1" i="0" dirty="0">
                <a:solidFill>
                  <a:schemeClr val="tx1"/>
                </a:solidFill>
                <a:effectLst/>
                <a:latin typeface="var(--cds-font-family-source-sans-pro)"/>
              </a:rPr>
              <a:t>Clustering</a:t>
            </a:r>
            <a:r>
              <a:rPr lang="en-US" b="0" i="0" dirty="0">
                <a:solidFill>
                  <a:schemeClr val="tx1"/>
                </a:solidFill>
                <a:effectLst/>
                <a:latin typeface="var(--cds-font-family-source-sans-pro)"/>
              </a:rPr>
              <a:t>: for grouping unlabeled data such as </a:t>
            </a:r>
            <a:r>
              <a:rPr lang="en-US" b="0" i="0" dirty="0" err="1">
                <a:solidFill>
                  <a:schemeClr val="tx1"/>
                </a:solidFill>
                <a:effectLst/>
                <a:latin typeface="var(--cds-font-family-source-sans-pro)"/>
              </a:rPr>
              <a:t>KMeans</a:t>
            </a:r>
            <a:r>
              <a:rPr lang="en-US" b="0" i="0" dirty="0">
                <a:solidFill>
                  <a:schemeClr val="tx1"/>
                </a:solidFill>
                <a:effectLst/>
                <a:latin typeface="var(--cds-font-family-source-sans-pro)"/>
              </a:rPr>
              <a:t>.</a:t>
            </a:r>
          </a:p>
          <a:p>
            <a:pPr marL="285750" indent="-285750" algn="l" fontAlgn="base">
              <a:buFont typeface="Wingdings" panose="05000000000000000000" pitchFamily="2" charset="2"/>
              <a:buChar char="Ø"/>
            </a:pPr>
            <a:r>
              <a:rPr lang="en-US" b="1" i="0" dirty="0">
                <a:solidFill>
                  <a:schemeClr val="tx1"/>
                </a:solidFill>
                <a:effectLst/>
                <a:latin typeface="var(--cds-font-family-source-sans-pro)"/>
              </a:rPr>
              <a:t>Cross Validation</a:t>
            </a:r>
            <a:r>
              <a:rPr lang="en-US" b="0" i="0" dirty="0">
                <a:solidFill>
                  <a:schemeClr val="tx1"/>
                </a:solidFill>
                <a:effectLst/>
                <a:latin typeface="var(--cds-font-family-source-sans-pro)"/>
              </a:rPr>
              <a:t>: for estimating the performance of supervised models on unseen data.</a:t>
            </a:r>
          </a:p>
          <a:p>
            <a:pPr marL="285750" indent="-285750" algn="l" fontAlgn="base">
              <a:buFont typeface="Wingdings" panose="05000000000000000000" pitchFamily="2" charset="2"/>
              <a:buChar char="Ø"/>
            </a:pPr>
            <a:r>
              <a:rPr lang="en-US" b="1" i="0" dirty="0">
                <a:solidFill>
                  <a:schemeClr val="tx1"/>
                </a:solidFill>
                <a:effectLst/>
                <a:latin typeface="var(--cds-font-family-source-sans-pro)"/>
              </a:rPr>
              <a:t>Datasets</a:t>
            </a:r>
            <a:r>
              <a:rPr lang="en-US" b="0" i="0" dirty="0">
                <a:solidFill>
                  <a:schemeClr val="tx1"/>
                </a:solidFill>
                <a:effectLst/>
                <a:latin typeface="var(--cds-font-family-source-sans-pro)"/>
              </a:rPr>
              <a:t>: for test datasets and for generating datasets with specific properties for investigating model behavior.</a:t>
            </a:r>
          </a:p>
          <a:p>
            <a:pPr marL="285750" indent="-285750" algn="l" fontAlgn="base">
              <a:buFont typeface="Wingdings" panose="05000000000000000000" pitchFamily="2" charset="2"/>
              <a:buChar char="Ø"/>
            </a:pPr>
            <a:r>
              <a:rPr lang="en-US" b="1" i="0" dirty="0">
                <a:solidFill>
                  <a:schemeClr val="tx1"/>
                </a:solidFill>
                <a:effectLst/>
                <a:latin typeface="var(--cds-font-family-source-sans-pro)"/>
              </a:rPr>
              <a:t>Dimensionality Reduction</a:t>
            </a:r>
            <a:r>
              <a:rPr lang="en-US" b="0" i="0" dirty="0">
                <a:solidFill>
                  <a:schemeClr val="tx1"/>
                </a:solidFill>
                <a:effectLst/>
                <a:latin typeface="var(--cds-font-family-source-sans-pro)"/>
              </a:rPr>
              <a:t>: for reducing the number of attributes in data for summarization, visualization and feature selection such as Principal component analysis.</a:t>
            </a:r>
          </a:p>
          <a:p>
            <a:pPr marL="285750" indent="-285750" algn="l" fontAlgn="base">
              <a:buFont typeface="Wingdings" panose="05000000000000000000" pitchFamily="2" charset="2"/>
              <a:buChar char="Ø"/>
            </a:pPr>
            <a:r>
              <a:rPr lang="en-US" b="1" i="0" dirty="0">
                <a:solidFill>
                  <a:schemeClr val="tx1"/>
                </a:solidFill>
                <a:effectLst/>
                <a:latin typeface="var(--cds-font-family-source-sans-pro)"/>
              </a:rPr>
              <a:t>Ensemble methods</a:t>
            </a:r>
            <a:r>
              <a:rPr lang="en-US" b="0" i="0" dirty="0">
                <a:solidFill>
                  <a:schemeClr val="tx1"/>
                </a:solidFill>
                <a:effectLst/>
                <a:latin typeface="var(--cds-font-family-source-sans-pro)"/>
              </a:rPr>
              <a:t>: for combining the predictions of multiple supervised models.</a:t>
            </a:r>
          </a:p>
          <a:p>
            <a:pPr marL="285750" indent="-285750" algn="l" fontAlgn="base">
              <a:buFont typeface="Wingdings" panose="05000000000000000000" pitchFamily="2" charset="2"/>
              <a:buChar char="Ø"/>
            </a:pPr>
            <a:r>
              <a:rPr lang="en-US" b="1" i="0" dirty="0">
                <a:solidFill>
                  <a:schemeClr val="tx1"/>
                </a:solidFill>
                <a:effectLst/>
                <a:latin typeface="var(--cds-font-family-source-sans-pro)"/>
              </a:rPr>
              <a:t>Feature extraction</a:t>
            </a:r>
            <a:r>
              <a:rPr lang="en-US" b="0" i="0" dirty="0">
                <a:solidFill>
                  <a:schemeClr val="tx1"/>
                </a:solidFill>
                <a:effectLst/>
                <a:latin typeface="var(--cds-font-family-source-sans-pro)"/>
              </a:rPr>
              <a:t>: for defining attributes in image and text data.</a:t>
            </a:r>
          </a:p>
          <a:p>
            <a:pPr marL="285750" indent="-285750" algn="l" fontAlgn="base">
              <a:buFont typeface="Wingdings" panose="05000000000000000000" pitchFamily="2" charset="2"/>
              <a:buChar char="Ø"/>
            </a:pPr>
            <a:r>
              <a:rPr lang="en-US" b="1" i="0" dirty="0">
                <a:solidFill>
                  <a:schemeClr val="tx1"/>
                </a:solidFill>
                <a:effectLst/>
                <a:latin typeface="var(--cds-font-family-source-sans-pro)"/>
              </a:rPr>
              <a:t>Feature selection</a:t>
            </a:r>
            <a:r>
              <a:rPr lang="en-US" b="0" i="0" dirty="0">
                <a:solidFill>
                  <a:schemeClr val="tx1"/>
                </a:solidFill>
                <a:effectLst/>
                <a:latin typeface="var(--cds-font-family-source-sans-pro)"/>
              </a:rPr>
              <a:t>: for identifying meaningful attributes from which to create supervised models.</a:t>
            </a:r>
          </a:p>
          <a:p>
            <a:pPr marL="285750" indent="-285750" algn="l" fontAlgn="base">
              <a:buFont typeface="Wingdings" panose="05000000000000000000" pitchFamily="2" charset="2"/>
              <a:buChar char="Ø"/>
            </a:pPr>
            <a:r>
              <a:rPr lang="en-US" b="1" i="0" dirty="0">
                <a:solidFill>
                  <a:schemeClr val="tx1"/>
                </a:solidFill>
                <a:effectLst/>
                <a:latin typeface="var(--cds-font-family-source-sans-pro)"/>
              </a:rPr>
              <a:t>Parameter Tuning</a:t>
            </a:r>
            <a:r>
              <a:rPr lang="en-US" b="0" i="0" dirty="0">
                <a:solidFill>
                  <a:schemeClr val="tx1"/>
                </a:solidFill>
                <a:effectLst/>
                <a:latin typeface="var(--cds-font-family-source-sans-pro)"/>
              </a:rPr>
              <a:t>: for getting the most out of supervised models.</a:t>
            </a:r>
          </a:p>
          <a:p>
            <a:pPr marL="285750" indent="-285750" algn="l" fontAlgn="base">
              <a:buFont typeface="Wingdings" panose="05000000000000000000" pitchFamily="2" charset="2"/>
              <a:buChar char="Ø"/>
            </a:pPr>
            <a:r>
              <a:rPr lang="en-US" b="1" i="0" dirty="0">
                <a:solidFill>
                  <a:schemeClr val="tx1"/>
                </a:solidFill>
                <a:effectLst/>
                <a:latin typeface="var(--cds-font-family-source-sans-pro)"/>
              </a:rPr>
              <a:t>Manifold Learning</a:t>
            </a:r>
            <a:r>
              <a:rPr lang="en-US" b="0" i="0" dirty="0">
                <a:solidFill>
                  <a:schemeClr val="tx1"/>
                </a:solidFill>
                <a:effectLst/>
                <a:latin typeface="var(--cds-font-family-source-sans-pro)"/>
              </a:rPr>
              <a:t>: for summarizing and depicting complex multi-dimensional data.</a:t>
            </a:r>
          </a:p>
          <a:p>
            <a:pPr marL="285750" indent="-285750" algn="l" fontAlgn="base">
              <a:buFont typeface="Wingdings" panose="05000000000000000000" pitchFamily="2" charset="2"/>
              <a:buChar char="Ø"/>
            </a:pPr>
            <a:r>
              <a:rPr lang="en-US" b="1" i="0" dirty="0">
                <a:solidFill>
                  <a:schemeClr val="tx1"/>
                </a:solidFill>
                <a:effectLst/>
                <a:latin typeface="var(--cds-font-family-source-sans-pro)"/>
              </a:rPr>
              <a:t>Supervised Models</a:t>
            </a:r>
            <a:r>
              <a:rPr lang="en-US" b="0" i="0" dirty="0">
                <a:solidFill>
                  <a:schemeClr val="tx1"/>
                </a:solidFill>
                <a:effectLst/>
                <a:latin typeface="var(--cds-font-family-source-sans-pro)"/>
              </a:rPr>
              <a:t>: a vast array not limited to generalized linear models, discriminate analysis, naive bayes, lazy methods, neural networks, support vector machines and decision trees.</a:t>
            </a:r>
          </a:p>
          <a:p>
            <a:pPr marL="285750" indent="-285750">
              <a:buFont typeface="Wingdings" panose="05000000000000000000" pitchFamily="2" charset="2"/>
              <a:buChar char="Ø"/>
            </a:pPr>
            <a:endParaRPr lang="en-IN" dirty="0">
              <a:solidFill>
                <a:schemeClr val="tx1"/>
              </a:solidFill>
              <a:latin typeface="var(--cds-font-family-source-sans-pro)"/>
            </a:endParaRPr>
          </a:p>
        </p:txBody>
      </p:sp>
    </p:spTree>
    <p:extLst>
      <p:ext uri="{BB962C8B-B14F-4D97-AF65-F5344CB8AC3E}">
        <p14:creationId xmlns:p14="http://schemas.microsoft.com/office/powerpoint/2010/main" val="3757095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801D1-65A6-6438-5C83-EA20A088C3F2}"/>
              </a:ext>
            </a:extLst>
          </p:cNvPr>
          <p:cNvSpPr>
            <a:spLocks noGrp="1"/>
          </p:cNvSpPr>
          <p:nvPr>
            <p:ph type="ctrTitle"/>
          </p:nvPr>
        </p:nvSpPr>
        <p:spPr>
          <a:xfrm>
            <a:off x="2589213" y="2514601"/>
            <a:ext cx="7400361" cy="1280652"/>
          </a:xfrm>
        </p:spPr>
        <p:txBody>
          <a:bodyPr/>
          <a:lstStyle/>
          <a:p>
            <a:pPr algn="ctr"/>
            <a:r>
              <a:rPr lang="en-IN" b="1" i="1" dirty="0"/>
              <a:t>Thank you</a:t>
            </a:r>
          </a:p>
        </p:txBody>
      </p:sp>
    </p:spTree>
    <p:extLst>
      <p:ext uri="{BB962C8B-B14F-4D97-AF65-F5344CB8AC3E}">
        <p14:creationId xmlns:p14="http://schemas.microsoft.com/office/powerpoint/2010/main" val="3737468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46</TotalTime>
  <Words>1386</Words>
  <Application>Microsoft Office PowerPoint</Application>
  <PresentationFormat>Widescreen</PresentationFormat>
  <Paragraphs>74</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Century Gothic</vt:lpstr>
      <vt:lpstr>Source Sans Pro</vt:lpstr>
      <vt:lpstr>var(--cds-font-family-source-sans-pro)</vt:lpstr>
      <vt:lpstr>Wingdings</vt:lpstr>
      <vt:lpstr>Wingdings 3</vt:lpstr>
      <vt:lpstr>Wisp</vt:lpstr>
      <vt:lpstr>Machine Learning</vt:lpstr>
      <vt:lpstr>Machine learning is a subfield of artificial intelligence (AI) that uses algorithms trained on data sets to create self-learning models that are capable of predicting outcomes and classifying information without human intervention. Machine learning is used today for a wide range of commercial purposes, including suggesting products to consumers based on their past purchases, predicting stock market fluctuations, and translating text from one language to another.  In common usage, the terms “machine learning” and “artificial intelligence” are often used interchangeably with one another due to the prevalence of machine learning for AI purposes in the world today. But, the two terms are meaningfully distinct. While AI refers to the general attempt to create machines capable of human-like cognitive abilities, machine learning specifically refers to the use of algorithms and data sets to do so </vt:lpstr>
      <vt:lpstr>PowerPoint Presentation</vt:lpstr>
      <vt:lpstr>PowerPoint Presentation</vt:lpstr>
      <vt:lpstr>PowerPoint Presentation</vt:lpstr>
      <vt:lpstr>Supervised Vs Unsupervised learning</vt:lpstr>
      <vt:lpstr>PowerPoint Presentation</vt:lpstr>
      <vt:lpstr>Scikit Learn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chilla lalitha</dc:creator>
  <cp:lastModifiedBy>chilla lalitha</cp:lastModifiedBy>
  <cp:revision>3</cp:revision>
  <dcterms:created xsi:type="dcterms:W3CDTF">2023-11-07T17:18:01Z</dcterms:created>
  <dcterms:modified xsi:type="dcterms:W3CDTF">2023-11-07T18:04:51Z</dcterms:modified>
</cp:coreProperties>
</file>